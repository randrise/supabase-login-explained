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25a64b29484c39" /><Relationship Type="http://schemas.openxmlformats.org/officeDocument/2006/relationships/extended-properties" Target="/docProps/app.xml" Id="Rda6a2ca228ac46a7" /><Relationship Type="http://schemas.openxmlformats.org/officeDocument/2006/relationships/officeDocument" Target="/ppt/presentation.xml" Id="R5dcd4b0ee3e34b2f" /></Relationships>
</file>

<file path=ppt/presentation.xml><?xml version="1.0" encoding="utf-8"?>
<p:presentation xmlns:p="http://schemas.openxmlformats.org/presentationml/2006/main">
  <p:sldMasterIdLst>
    <p:sldMasterId xmlns:r="http://schemas.openxmlformats.org/officeDocument/2006/relationships" id="2147483648" r:id="R008b60b06c574e2b"/>
  </p:sldMasterIdLst>
  <p:notesMasterIdLst>
    <p:notesMasterId xmlns:r="http://schemas.openxmlformats.org/officeDocument/2006/relationships" r:id="Rdcee8aa4cb6e4a67"/>
  </p:notesMasterIdLst>
  <p:sldIdLst>
    <p:sldId xmlns:r="http://schemas.openxmlformats.org/officeDocument/2006/relationships" id="256" r:id="Rbc25984340a14604"/>
    <p:sldId xmlns:r="http://schemas.openxmlformats.org/officeDocument/2006/relationships" id="257" r:id="Reff77cf574544634"/>
    <p:sldId xmlns:r="http://schemas.openxmlformats.org/officeDocument/2006/relationships" id="258" r:id="R666072ec82b147f9"/>
    <p:sldId xmlns:r="http://schemas.openxmlformats.org/officeDocument/2006/relationships" id="259" r:id="Rcf77a935d2a64250"/>
    <p:sldId xmlns:r="http://schemas.openxmlformats.org/officeDocument/2006/relationships" id="260" r:id="R03f540aa31d941b5"/>
    <p:sldId xmlns:r="http://schemas.openxmlformats.org/officeDocument/2006/relationships" id="261" r:id="R58fefcb12dee4fc3"/>
    <p:sldId xmlns:r="http://schemas.openxmlformats.org/officeDocument/2006/relationships" id="262" r:id="R4c49c71f605446c4"/>
    <p:sldId xmlns:r="http://schemas.openxmlformats.org/officeDocument/2006/relationships" id="263" r:id="R73f2fa5f156a45aa"/>
    <p:sldId xmlns:r="http://schemas.openxmlformats.org/officeDocument/2006/relationships" id="264" r:id="Reb1b713ce8454b5d"/>
    <p:sldId xmlns:r="http://schemas.openxmlformats.org/officeDocument/2006/relationships" id="265" r:id="Rbd17356e403e427a"/>
    <p:sldId xmlns:r="http://schemas.openxmlformats.org/officeDocument/2006/relationships" id="266" r:id="Rd0679833e76b45b6"/>
    <p:sldId xmlns:r="http://schemas.openxmlformats.org/officeDocument/2006/relationships" id="267" r:id="R6fb0e69664a040db"/>
    <p:sldId xmlns:r="http://schemas.openxmlformats.org/officeDocument/2006/relationships" id="268" r:id="R5aabca7735e54d6e"/>
    <p:sldId xmlns:r="http://schemas.openxmlformats.org/officeDocument/2006/relationships" id="269" r:id="R0cf9d85ffabd4398"/>
    <p:sldId xmlns:r="http://schemas.openxmlformats.org/officeDocument/2006/relationships" id="270" r:id="Re67997b9797342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763be180214105" /><Relationship Type="http://schemas.openxmlformats.org/officeDocument/2006/relationships/slideMaster" Target="/ppt/slideMasters/slideMaster1.xml" Id="R008b60b06c574e2b" /><Relationship Type="http://schemas.openxmlformats.org/officeDocument/2006/relationships/notesMaster" Target="/ppt/notesMasters/notesMaster1.xml" Id="Rdcee8aa4cb6e4a67" /><Relationship Type="http://schemas.openxmlformats.org/officeDocument/2006/relationships/presProps" Target="/ppt/presProps.xml" Id="Rdba5edebd131437f" /><Relationship Type="http://schemas.openxmlformats.org/officeDocument/2006/relationships/tableStyles" Target="/ppt/tableStyles.xml" Id="R9960b462d4fd4631" /><Relationship Type="http://schemas.openxmlformats.org/officeDocument/2006/relationships/slide" Target="/ppt/slides/slide1.xml" Id="Rbc25984340a14604" /><Relationship Type="http://schemas.openxmlformats.org/officeDocument/2006/relationships/slide" Target="/ppt/slides/slide2.xml" Id="Reff77cf574544634" /><Relationship Type="http://schemas.openxmlformats.org/officeDocument/2006/relationships/slide" Target="/ppt/slides/slide3.xml" Id="R666072ec82b147f9" /><Relationship Type="http://schemas.openxmlformats.org/officeDocument/2006/relationships/slide" Target="/ppt/slides/slide4.xml" Id="Rcf77a935d2a64250" /><Relationship Type="http://schemas.openxmlformats.org/officeDocument/2006/relationships/slide" Target="/ppt/slides/slide5.xml" Id="R03f540aa31d941b5" /><Relationship Type="http://schemas.openxmlformats.org/officeDocument/2006/relationships/slide" Target="/ppt/slides/slide6.xml" Id="R58fefcb12dee4fc3" /><Relationship Type="http://schemas.openxmlformats.org/officeDocument/2006/relationships/slide" Target="/ppt/slides/slide7.xml" Id="R4c49c71f605446c4" /><Relationship Type="http://schemas.openxmlformats.org/officeDocument/2006/relationships/slide" Target="/ppt/slides/slide8.xml" Id="R73f2fa5f156a45aa" /><Relationship Type="http://schemas.openxmlformats.org/officeDocument/2006/relationships/slide" Target="/ppt/slides/slide9.xml" Id="Reb1b713ce8454b5d" /><Relationship Type="http://schemas.openxmlformats.org/officeDocument/2006/relationships/slide" Target="/ppt/slides/slide10.xml" Id="Rbd17356e403e427a" /><Relationship Type="http://schemas.openxmlformats.org/officeDocument/2006/relationships/slide" Target="/ppt/slides/slide11.xml" Id="Rd0679833e76b45b6" /><Relationship Type="http://schemas.openxmlformats.org/officeDocument/2006/relationships/slide" Target="/ppt/slides/slide12.xml" Id="R6fb0e69664a040db" /><Relationship Type="http://schemas.openxmlformats.org/officeDocument/2006/relationships/slide" Target="/ppt/slides/slide13.xml" Id="R5aabca7735e54d6e" /><Relationship Type="http://schemas.openxmlformats.org/officeDocument/2006/relationships/slide" Target="/ppt/slides/slide14.xml" Id="R0cf9d85ffabd4398" /><Relationship Type="http://schemas.openxmlformats.org/officeDocument/2006/relationships/slide" Target="/ppt/slides/slide15.xml" Id="Re67997b9797342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c8e11972b54f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98b76ea3fb4747" /><Relationship Type="http://schemas.openxmlformats.org/officeDocument/2006/relationships/notesMaster" Target="/ppt/notesMasters/notesMaster1.xml" Id="Rb40bf3c07d2644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1897ada1274ae0" /><Relationship Type="http://schemas.openxmlformats.org/officeDocument/2006/relationships/notesMaster" Target="/ppt/notesMasters/notesMaster1.xml" Id="R54dbca8ac25449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978fcad60b494e" /><Relationship Type="http://schemas.openxmlformats.org/officeDocument/2006/relationships/notesMaster" Target="/ppt/notesMasters/notesMaster1.xml" Id="Redcf6ae5d6a245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8b1bd8a7bd4414d" /><Relationship Type="http://schemas.openxmlformats.org/officeDocument/2006/relationships/notesMaster" Target="/ppt/notesMasters/notesMaster1.xml" Id="R96f9949a4a094a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d6273bf40e475b" /><Relationship Type="http://schemas.openxmlformats.org/officeDocument/2006/relationships/notesMaster" Target="/ppt/notesMasters/notesMaster1.xml" Id="R87543ed228d441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712a99547f4d20" /><Relationship Type="http://schemas.openxmlformats.org/officeDocument/2006/relationships/notesMaster" Target="/ppt/notesMasters/notesMaster1.xml" Id="Rf1382a6c80634a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fe4be9d1634f3a" /><Relationship Type="http://schemas.openxmlformats.org/officeDocument/2006/relationships/notesMaster" Target="/ppt/notesMasters/notesMaster1.xml" Id="R570d4c83532e45a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eb8d4ccf9d4b68" /><Relationship Type="http://schemas.openxmlformats.org/officeDocument/2006/relationships/notesMaster" Target="/ppt/notesMasters/notesMaster1.xml" Id="R4618ea531a00420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bd3f637d61d4504" /><Relationship Type="http://schemas.openxmlformats.org/officeDocument/2006/relationships/notesMaster" Target="/ppt/notesMasters/notesMaster1.xml" Id="Reefdb0df126845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a14b3e04734826" /><Relationship Type="http://schemas.openxmlformats.org/officeDocument/2006/relationships/notesMaster" Target="/ppt/notesMasters/notesMaster1.xml" Id="R1d64b6e0ae9346d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06ed918fea8471c" /><Relationship Type="http://schemas.openxmlformats.org/officeDocument/2006/relationships/notesMaster" Target="/ppt/notesMasters/notesMaster1.xml" Id="R7a3d02578d8f449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dd6c7124cb14929" /><Relationship Type="http://schemas.openxmlformats.org/officeDocument/2006/relationships/notesMaster" Target="/ppt/notesMasters/notesMaster1.xml" Id="Rad564ef132a2417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9e5967fe6a4d81" /><Relationship Type="http://schemas.openxmlformats.org/officeDocument/2006/relationships/notesMaster" Target="/ppt/notesMasters/notesMaster1.xml" Id="R492b2aafdea94a2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944822832454044" /><Relationship Type="http://schemas.openxmlformats.org/officeDocument/2006/relationships/notesMaster" Target="/ppt/notesMasters/notesMaster1.xml" Id="R499134938c3c409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c5b8984c9844092" /><Relationship Type="http://schemas.openxmlformats.org/officeDocument/2006/relationships/notesMaster" Target="/ppt/notesMasters/notesMaster1.xml" Id="Rb0a5f9a6152243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group’s question: how does a website remember who you are, and what can someone do with a stolen token? We use invented Alice and Bob accounts in a dedicated Supabase project. The cover image is an illustrative access-card metaphor generated for this deck, not an app screenshot. Suggested introduction: 15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Node server only serves files. Supabase Auth checks credentials and tokens. Postgres stores attempts and applies row-level security. The browser sends answer numbers, and the database calculates the score. Repeated attempts are allowed and the app displays the latest one. This teaches authentication and ownership, not exam anti-cheating. Source: project add-student-quiz.sql and student/js/quiz.js.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password goes to the authentication service over HTTPS. Supabase stores a salted bcrypt hash rather than a recoverable plaintext password. Hashing and transport encryption serve different purposes. We observe the login request and session response, while the hashing explanation comes from the provider documentation. Browser password-manager saving is separate from our app.</a:t>
            </a:r>
          </a:p>
          <a:p xmlns:a="http://schemas.openxmlformats.org/drawingml/2006/main">
            <a:r>
              <a:t/>
            </a:r>
          </a:p>
          <a:p xmlns:a="http://schemas.openxmlformats.org/drawingml/2006/main">
            <a:r>
              <a:t>Sources</a:t>
            </a:r>
          </a:p>
          <a:p xmlns:a="http://schemas.openxmlformats.org/drawingml/2006/main">
            <a:r>
              <a:t>https://supabase.com/docs/guides/auth/password-security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access token is a JWT with an expiry. A refresh token lets a client obtain a new token pair. This teaching app stores the pair but does not implement automatic refresh. A production client may manage refresh automatically. Avoid suggesting that every website stores sessions the same way.</a:t>
            </a:r>
          </a:p>
          <a:p xmlns:a="http://schemas.openxmlformats.org/drawingml/2006/main">
            <a:r>
              <a:t/>
            </a:r>
          </a:p>
          <a:p xmlns:a="http://schemas.openxmlformats.org/drawingml/2006/main">
            <a:r>
              <a:t>Sources</a:t>
            </a:r>
          </a:p>
          <a:p xmlns:a="http://schemas.openxmlformats.org/drawingml/2006/main">
            <a:r>
              <a:t>https://supabase.com/docs/guides/auth/sessions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DevTools, then Application, Local Storage, and the local site origin. Find the session key without sharing the full token values. Reload the page to show restoration. localStorage is specific to the browser origin, so localhost and 127.0.0.1 do not share the same storage. Page scripts can access localStorage, which is why script injection is a token-theft risk. Cookies are an alternative design, not part of this implementation. Source: student/js/state.js. Storage background: https://developer.mozilla.org/en-US/docs/Web/API/Window/localStorage and https://developer.mozilla.org/en-US/docs/Web/HTTP/Reference/Headers/Set-Cookie.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Expand Decoded token claims in Swagger after attaching a token. These slide values are illustrative labels, not a real JWT or full payload. JWTs have a header, payload and signature. Readable claims do not prove authenticity. Editing sub while retaining the signature caused HTTP 401 in our live checks. JWTs in this app do not contain the password.</a:t>
            </a:r>
          </a:p>
          <a:p xmlns:a="http://schemas.openxmlformats.org/drawingml/2006/main">
            <a:r>
              <a:t/>
            </a:r>
          </a:p>
          <a:p xmlns:a="http://schemas.openxmlformats.org/drawingml/2006/main">
            <a:r>
              <a:t>Sources</a:t>
            </a:r>
          </a:p>
          <a:p xmlns:a="http://schemas.openxmlformats.org/drawingml/2006/main">
            <a:r>
              <a:t>https://supabase.com/docs/guides/auth/jwt-fields</a:t>
            </a:r>
          </a:p>
          <a:p xmlns:a="http://schemas.openxmlformats.org/drawingml/2006/main">
            <a:r>
              <a:t>https://supabase.com/docs/guides/auth/signing-keys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get_result RPC for the clear 401/200/403 comparison. The user ID in a request does not grant permission to access that user. Postgres RLS limits rows by auth.uid(). A direct SELECT for another user returns 200 with an empty array, which differs from the RPC’s explicit 403. Establish that Bob has a result before demonstrating the empty array. These cases passed real-provider checks. Sources: add-student-quiz.sql and VALIDATION.txt.</a:t>
            </a:r>
          </a:p>
          <a:p xmlns:a="http://schemas.openxmlformats.org/drawingml/2006/main">
            <a:r>
              <a:t/>
            </a:r>
          </a:p>
          <a:p xmlns:a="http://schemas.openxmlformats.org/drawingml/2006/main">
            <a:r>
              <a:t>Sources</a:t>
            </a:r>
          </a:p>
          <a:p xmlns:a="http://schemas.openxmlformats.org/drawingml/2006/main">
            <a:r>
              <a:t>https://supabase.com/docs/guides/database/postgres/row-level-security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scenario we tested. Swagger keeps a separate bearer copy in memory. Signing in as Bob on the portal does not replace an already attached Alice token. Clicking Use portal session does replace it. With Alice’s bearer, wrong answers add a new Alice attempt, rather than changing an old row. Refresh Alice’s result to see the latest attempt. Compare the response student_id with the student roster to confirm ownership. All live credentials remain outside this deck. Source: user-confirmed demo behavior on 9 October 2026, student/swagger.js and add-student-quiz.sql.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bearer credential authorizes whoever presents it, so the server cannot distinguish the owner from someone holding the same stolen token. Our live tests covered reading and submitting as the owner, rejecting a modified signature, and rejecting another user’s records. Do not claim token theft can never affect passwords or other account settings: those operations depend on provider policy. Sources: VALIDATION.txt and the quiz API.</a:t>
            </a:r>
          </a:p>
          <a:p xmlns:a="http://schemas.openxmlformats.org/drawingml/2006/main">
            <a:r>
              <a:t/>
            </a:r>
          </a:p>
          <a:p xmlns:a="http://schemas.openxmlformats.org/drawingml/2006/main">
            <a:r>
              <a:t>Sources</a:t>
            </a:r>
          </a:p>
          <a:p xmlns:a="http://schemas.openxmlformats.org/drawingml/2006/main">
            <a:r>
              <a:t>https://supabase.com/docs/guides/auth/signing-keys</a:t>
            </a:r>
          </a:p>
          <a:p xmlns:a="http://schemas.openxmlformats.org/drawingml/2006/main">
            <a:r>
              <a:t>https://supabase.com/docs/guides/database/postgres/row-level-security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copied token by attaching Alice’s session in Swagger, signing out on the portal, and calling the API again without refreshing Swagger. Existing access JWTs can remain valid until expiry. This app uses local sign-out scope and does not add an active-session lookup to every database call. We observed post-logout access, but did not wait through a natural expiry test.</a:t>
            </a:r>
          </a:p>
          <a:p xmlns:a="http://schemas.openxmlformats.org/drawingml/2006/main">
            <a:r>
              <a:t/>
            </a:r>
          </a:p>
          <a:p xmlns:a="http://schemas.openxmlformats.org/drawingml/2006/main">
            <a:r>
              <a:t>Sources</a:t>
            </a:r>
          </a:p>
          <a:p xmlns:a="http://schemas.openxmlformats.org/drawingml/2006/main">
            <a:r>
              <a:t>https://supabase.com/docs/guides/auth/signout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conceptual explanation for the teammate’s Google section. Our student app does not run live Google OAuth. In the redirect flow, the service exchanges the authorization code and validates Google’s response. Google authentication and the resulting Supabase application session are distinct. Explain that the password stays on Google’s sign-in surface. Provider and application tokens have different purposes.</a:t>
            </a:r>
          </a:p>
          <a:p xmlns:a="http://schemas.openxmlformats.org/drawingml/2006/main">
            <a:r>
              <a:t/>
            </a:r>
          </a:p>
          <a:p xmlns:a="http://schemas.openxmlformats.org/drawingml/2006/main">
            <a:r>
              <a:t>Sources</a:t>
            </a:r>
          </a:p>
          <a:p xmlns:a="http://schemas.openxmlformats.org/drawingml/2006/main">
            <a:r>
              <a:t>https://supabase.com/docs/guides/auth/social-login/auth-google</a:t>
            </a:r>
          </a:p>
          <a:p xmlns:a="http://schemas.openxmlformats.org/drawingml/2006/main">
            <a:r>
              <a:t>https://developers.google.com/identity/openid-connect/openid-connect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Rand’s live demo: allow about five minutes. Use PRESENTATION.txt for the detailed clicks. Run both pages on the same host and port. Seed a Bob attempt before the ownership check. To demonstrate replay, keep Alice’s token attached in Swagger, sign into Bob on the portal, submit [1,1,1] in Swagger, then sign into Alice and fetch her result. Do not click Use portal session while Bob is logged in unless you intend to switch the bearer to Bob. The portal does not automatically refresh after an external Swagger submission. No password or live token belongs in screenshots sent to the group.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Audience check: Bob is signed in on the portal, but Swagger sends Alice’s bearer. Whose latest quiz result changes? Answer: Alice’s. Ask why: the server verifies the request token, and the database uses its subject as the owner. A browser label is not the authority. Handoff to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the group. The original assignment asks how login works, where sessions live, Google sign-in, a token inspection example, and attacker capabilities. All topics have a place in this presentation. Google remains conceptual unless the teammate brings a separate demo. The implementation is a teaching example with invented users, repeated submissions and a visible source answer key. No additional app feature is needed to satisfy the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checked 9 October 2026. Full references follow.</a:t>
            </a:r>
          </a:p>
          <a:p xmlns:a="http://schemas.openxmlformats.org/drawingml/2006/main">
            <a:r>
              <a:t/>
            </a:r>
          </a:p>
          <a:p xmlns:a="http://schemas.openxmlformats.org/drawingml/2006/main">
            <a:r>
              <a:t>https://supabase.com/docs/guides/auth/password-security</a:t>
            </a:r>
          </a:p>
          <a:p xmlns:a="http://schemas.openxmlformats.org/drawingml/2006/main">
            <a:r>
              <a:t>https://supabase.com/docs/guides/auth/sessions</a:t>
            </a:r>
          </a:p>
          <a:p xmlns:a="http://schemas.openxmlformats.org/drawingml/2006/main">
            <a:r>
              <a:t>https://supabase.com/docs/guides/auth/jwt-fields</a:t>
            </a:r>
          </a:p>
          <a:p xmlns:a="http://schemas.openxmlformats.org/drawingml/2006/main">
            <a:r>
              <a:t>https://supabase.com/docs/guides/auth/signing-keys</a:t>
            </a:r>
          </a:p>
          <a:p xmlns:a="http://schemas.openxmlformats.org/drawingml/2006/main">
            <a:r>
              <a:t>https://supabase.com/docs/guides/database/postgres/row-level-security</a:t>
            </a:r>
          </a:p>
          <a:p xmlns:a="http://schemas.openxmlformats.org/drawingml/2006/main">
            <a:r>
              <a:t>https://supabase.com/docs/guides/auth/signout</a:t>
            </a:r>
          </a:p>
          <a:p xmlns:a="http://schemas.openxmlformats.org/drawingml/2006/main">
            <a:r>
              <a:t>https://supabase.com/docs/guides/auth/social-login/auth-google</a:t>
            </a:r>
          </a:p>
          <a:p xmlns:a="http://schemas.openxmlformats.org/drawingml/2006/main">
            <a:r>
              <a:t>https://developers.google.com/identity/openid-connect/openid-connect</a:t>
            </a:r>
          </a:p>
          <a:p xmlns:a="http://schemas.openxmlformats.org/drawingml/2006/main">
            <a:r>
              <a:t/>
            </a:r>
          </a:p>
          <a:p xmlns:a="http://schemas.openxmlformats.org/drawingml/2006/main">
            <a:r>
              <a:t>https://github.com/RandRise/supabase-login-explained</a:t>
            </a:r>
          </a:p>
          <a:p xmlns:a="http://schemas.openxmlformats.org/drawingml/2006/main">
            <a:r>
              <a:t>https://developer.mozilla.org/en-US/docs/Web/API/Window/localStorage</a:t>
            </a:r>
          </a:p>
          <a:p xmlns:a="http://schemas.openxmlformats.org/drawingml/2006/main">
            <a:r>
              <a:t>https://developer.mozilla.org/en-US/docs/Web/HTTP/Reference/Headers/Set-Cookie</a:t>
            </a:r>
          </a:p>
          <a:p xmlns:a="http://schemas.openxmlformats.org/drawingml/2006/main">
            <a:r>
              <a:t>The cover is an illustrative generated image. No live tokens, passwords or storage dumps appear in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40974caf6a47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145e14e0be406d" /><Relationship Type="http://schemas.openxmlformats.org/officeDocument/2006/relationships/slideLayout" Target="/ppt/slideLayouts/slideLayout1.xml" Id="R8eabf4907ab349a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abf4907ab349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bf40f2cc1744125" /><Relationship Type="http://schemas.openxmlformats.org/officeDocument/2006/relationships/image" Target="/ppt/media/image.png" Id="R73f313ef78ef424b" /><Relationship Type="http://schemas.openxmlformats.org/officeDocument/2006/relationships/notesSlide" Target="/ppt/notesSlides/notesSlide1.xml" Id="R58bc7dbd83f947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f280d17b25f4fd7" /><Relationship Type="http://schemas.openxmlformats.org/officeDocument/2006/relationships/notesSlide" Target="/ppt/notesSlides/notesSlide2.xml" Id="Raa5f107f737840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70725efdb3a4e00" /><Relationship Type="http://schemas.openxmlformats.org/officeDocument/2006/relationships/notesSlide" Target="/ppt/notesSlides/notesSlide3.xml" Id="R313db28a062d4c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94e98ff1f634a58" /><Relationship Type="http://schemas.openxmlformats.org/officeDocument/2006/relationships/notesSlide" Target="/ppt/notesSlides/notesSlide4.xml" Id="R84fa2f1a7f0647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74d9fce57a446ad" /><Relationship Type="http://schemas.openxmlformats.org/officeDocument/2006/relationships/notesSlide" Target="/ppt/notesSlides/notesSlide5.xml" Id="R8d81db79007b45f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b17a396189e4ce5" /><Relationship Type="http://schemas.openxmlformats.org/officeDocument/2006/relationships/notesSlide" Target="/ppt/notesSlides/notesSlide6.xml" Id="R7a2138075d8b444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fd98ccf95aa4671" /><Relationship Type="http://schemas.openxmlformats.org/officeDocument/2006/relationships/notesSlide" Target="/ppt/notesSlides/notesSlide7.xml" Id="Rb6c4bd3f58f74a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c527739c3ab4469" /><Relationship Type="http://schemas.openxmlformats.org/officeDocument/2006/relationships/notesSlide" Target="/ppt/notesSlides/notesSlide8.xml" Id="Re018fe5879a64c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59f4787364c462c" /><Relationship Type="http://schemas.openxmlformats.org/officeDocument/2006/relationships/notesSlide" Target="/ppt/notesSlides/notesSlide9.xml" Id="Re75c3d419ac843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5085f5031a4420b" /><Relationship Type="http://schemas.openxmlformats.org/officeDocument/2006/relationships/notesSlide" Target="/ppt/notesSlides/notesSlide10.xml" Id="R4c8af00797964e8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cbcd9f1334040fb" /><Relationship Type="http://schemas.openxmlformats.org/officeDocument/2006/relationships/notesSlide" Target="/ppt/notesSlides/notesSlide11.xml" Id="Rfeb08017b5aa40c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5ba6a1e3e164e7f" /><Relationship Type="http://schemas.openxmlformats.org/officeDocument/2006/relationships/notesSlide" Target="/ppt/notesSlides/notesSlide12.xml" Id="Raa25463d7212422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f75711612044b83" /><Relationship Type="http://schemas.openxmlformats.org/officeDocument/2006/relationships/notesSlide" Target="/ppt/notesSlides/notesSlide13.xml" Id="Re66e921abb2740b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6f3863b3d2244f7" /><Relationship Type="http://schemas.openxmlformats.org/officeDocument/2006/relationships/notesSlide" Target="/ppt/notesSlides/notesSlide14.xml" Id="Rd9bcbb2075234ea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0106584605f4126" /><Relationship Type="http://schemas.openxmlformats.org/officeDocument/2006/relationships/notesSlide" Target="/ppt/notesSlides/notesSlide15.xml" Id="Ra9ff3170690441cf" /></Relationships>
</file>

<file path=ppt/slides/slide1.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73f313ef78ef424b"/>
          <a:srcRect xmlns:a="http://schemas.openxmlformats.org/drawingml/2006/main" l="4530" t="0" r="4530" b="0"/>
          <a:stretch xmlns:a="http://schemas.openxmlformats.org/drawingml/2006/main">
            <a:fillRect l="0" t="0" r="0" b="0"/>
          </a:stretch>
        </p:blipFill>
        <p:spPr>
          <a:xfrm xmlns:a="http://schemas.openxmlformats.org/drawingml/2006/main">
            <a:off x="7200900" y="0"/>
            <a:ext cx="49911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D425437-63F5-4BE7-8F90-37462FEC3F55}"/>
              </a:ext>
            </a:extLst>
          </p:cNvPr>
          <p:cNvSpPr>
            <a:spLocks xmlns:a="http://schemas.openxmlformats.org/drawingml/2006/main" noGrp="1"/>
          </p:cNvSpPr>
          <p:nvPr/>
        </p:nvSpPr>
        <p:spPr>
          <a:xfrm xmlns:a="http://schemas.openxmlformats.org/drawingml/2006/main">
            <a:off x="609600" y="1581150"/>
            <a:ext cx="6191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75" b="1">
                <a:solidFill>
                  <a:srgbClr val="173C2F"/>
                </a:solidFill>
                <a:latin typeface="Arial"/>
                <a:ea typeface="Arial"/>
                <a:cs typeface="Arial"/>
              </a:defRPr>
            </a:pPr>
            <a:r>
              <a:rPr sz="5775" b="1">
                <a:solidFill>
                  <a:srgbClr val="173C2F"/>
                </a:solidFill>
                <a:latin typeface="Arial"/>
                <a:ea typeface="Arial"/>
                <a:cs typeface="Arial"/>
              </a:rPr>
              <a:t>How logging</a:t>
            </a:r>
          </a:p>
          <a:p xmlns:a="http://schemas.openxmlformats.org/drawingml/2006/main">
            <a:pPr>
              <a:defRPr sz="5775" b="1">
                <a:solidFill>
                  <a:srgbClr val="173C2F"/>
                </a:solidFill>
                <a:latin typeface="Arial"/>
                <a:ea typeface="Arial"/>
                <a:cs typeface="Arial"/>
              </a:defRPr>
            </a:pPr>
            <a:r>
              <a:rPr sz="5775" b="1">
                <a:solidFill>
                  <a:srgbClr val="173C2F"/>
                </a:solidFill>
                <a:latin typeface="Arial"/>
                <a:ea typeface="Arial"/>
                <a:cs typeface="Arial"/>
              </a:rPr>
              <a:t>in works</a:t>
            </a:r>
          </a:p>
        </p:txBody>
      </p:sp>
      <p:sp>
        <p:nvSpPr>
          <p:cNvPr id="3" name="">
            <a:extLst xmlns:a="http://schemas.openxmlformats.org/drawingml/2006/main">
              <a:ext uri="{FF2B5EF4-FFF2-40B4-BE49-F238E27FC236}">
                <a16:creationId xmlns:a16="http://schemas.microsoft.com/office/drawing/2014/main" id="{69BE9747-5936-4DD0-BEDB-30DE1484A51A}"/>
              </a:ext>
            </a:extLst>
          </p:cNvPr>
          <p:cNvSpPr>
            <a:spLocks xmlns:a="http://schemas.openxmlformats.org/drawingml/2006/main" noGrp="1"/>
          </p:cNvSpPr>
          <p:nvPr/>
        </p:nvSpPr>
        <p:spPr>
          <a:xfrm xmlns:a="http://schemas.openxmlformats.org/drawingml/2006/main">
            <a:off x="657225" y="4095750"/>
            <a:ext cx="590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86A60"/>
                </a:solidFill>
                <a:latin typeface="Arial"/>
                <a:ea typeface="Arial"/>
                <a:cs typeface="Arial"/>
              </a:defRPr>
            </a:pPr>
            <a:r>
              <a:rPr sz="2250" b="0">
                <a:solidFill>
                  <a:srgbClr val="586A60"/>
                </a:solidFill>
                <a:latin typeface="Arial"/>
                <a:ea typeface="Arial"/>
                <a:cs typeface="Arial"/>
              </a:rPr>
              <a:t>Passwords, sessions and tokens</a:t>
            </a:r>
          </a:p>
          <a:p xmlns:a="http://schemas.openxmlformats.org/drawingml/2006/main">
            <a:pPr>
              <a:defRPr sz="2250" b="0">
                <a:solidFill>
                  <a:srgbClr val="586A60"/>
                </a:solidFill>
                <a:latin typeface="Arial"/>
                <a:ea typeface="Arial"/>
                <a:cs typeface="Arial"/>
              </a:defRPr>
            </a:pPr>
            <a:r>
              <a:rPr sz="2250" b="0">
                <a:solidFill>
                  <a:srgbClr val="586A60"/>
                </a:solidFill>
                <a:latin typeface="Arial"/>
                <a:ea typeface="Arial"/>
                <a:cs typeface="Arial"/>
              </a:rPr>
              <a:t>through a student quiz demo</a:t>
            </a:r>
          </a:p>
        </p:txBody>
      </p:sp>
      <p:sp>
        <p:nvSpPr>
          <p:cNvPr id="4" name="">
            <a:extLst xmlns:a="http://schemas.openxmlformats.org/drawingml/2006/main">
              <a:ext uri="{FF2B5EF4-FFF2-40B4-BE49-F238E27FC236}">
                <a16:creationId xmlns:a16="http://schemas.microsoft.com/office/drawing/2014/main" id="{CC64CD38-0C82-438E-9A84-7C193A02E309}"/>
              </a:ext>
            </a:extLst>
          </p:cNvPr>
          <p:cNvSpPr>
            <a:spLocks xmlns:a="http://schemas.openxmlformats.org/drawingml/2006/main" noGrp="1"/>
          </p:cNvSpPr>
          <p:nvPr/>
        </p:nvSpPr>
        <p:spPr>
          <a:xfrm xmlns:a="http://schemas.openxmlformats.org/drawingml/2006/main">
            <a:off x="657225" y="5886450"/>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86A60"/>
                </a:solidFill>
                <a:latin typeface="Arial"/>
                <a:ea typeface="Arial"/>
                <a:cs typeface="Arial"/>
              </a:defRPr>
            </a:pPr>
            <a:r>
              <a:rPr sz="1500" b="0">
                <a:solidFill>
                  <a:srgbClr val="586A60"/>
                </a:solidFill>
                <a:latin typeface="Arial"/>
                <a:ea typeface="Arial"/>
                <a:cs typeface="Arial"/>
              </a:rPr>
              <a:t>Mayerfeld Practicum Program</a:t>
            </a:r>
          </a:p>
          <a:p xmlns:a="http://schemas.openxmlformats.org/drawingml/2006/main">
            <a:pPr>
              <a:defRPr sz="1500" b="0">
                <a:solidFill>
                  <a:srgbClr val="586A60"/>
                </a:solidFill>
                <a:latin typeface="Arial"/>
                <a:ea typeface="Arial"/>
                <a:cs typeface="Arial"/>
              </a:defRPr>
            </a:pPr>
            <a:r>
              <a:rPr sz="1500" b="0">
                <a:solidFill>
                  <a:srgbClr val="586A60"/>
                </a:solidFill>
                <a:latin typeface="Arial"/>
                <a:ea typeface="Arial"/>
                <a:cs typeface="Arial"/>
              </a:rPr>
              <a:t>AI Operations Specialist</a:t>
            </a:r>
          </a:p>
        </p:txBody>
      </p:sp>
    </p:spTree>
    <p:extLst>
      <p:ext uri="{BB962C8B-B14F-4D97-AF65-F5344CB8AC3E}">
        <p14:creationId xmlns:p14="http://schemas.microsoft.com/office/powerpoint/2010/main" val="1937209161"/>
      </p:ext>
    </p:extLst>
  </p:cSld>
</p:sld>
</file>

<file path=ppt/slides/slide2.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5A92BC6-DA14-46A7-9431-38F666383F59}"/>
              </a:ext>
            </a:extLst>
          </p:cNvPr>
          <p:cNvSpPr>
            <a:spLocks xmlns:a="http://schemas.openxmlformats.org/drawingml/2006/main" noGrp="1"/>
          </p:cNvSpPr>
          <p:nvPr/>
        </p:nvSpPr>
        <p:spPr>
          <a:xfrm xmlns:a="http://schemas.openxmlformats.org/drawingml/2006/main">
            <a:off x="609600" y="42862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C2F"/>
                </a:solidFill>
                <a:latin typeface="Arial"/>
                <a:ea typeface="Arial"/>
                <a:cs typeface="Arial"/>
              </a:defRPr>
            </a:pPr>
            <a:r>
              <a:rPr sz="3450" b="1">
                <a:solidFill>
                  <a:srgbClr val="173C2F"/>
                </a:solidFill>
                <a:latin typeface="Arial"/>
                <a:ea typeface="Arial"/>
                <a:cs typeface="Arial"/>
              </a:rPr>
              <a:t>The student portal</a:t>
            </a:r>
          </a:p>
        </p:txBody>
      </p:sp>
      <p:sp>
        <p:nvSpPr>
          <p:cNvPr id="2" name="">
            <a:extLst xmlns:a="http://schemas.openxmlformats.org/drawingml/2006/main">
              <a:ext uri="{FF2B5EF4-FFF2-40B4-BE49-F238E27FC236}">
                <a16:creationId xmlns:a16="http://schemas.microsoft.com/office/drawing/2014/main" id="{7D6DEAB3-33D7-497F-B1B3-02EC54FAD831}"/>
              </a:ext>
            </a:extLst>
          </p:cNvPr>
          <p:cNvSpPr>
            <a:spLocks xmlns:a="http://schemas.openxmlformats.org/drawingml/2006/main" noGrp="1"/>
          </p:cNvSpPr>
          <p:nvPr/>
        </p:nvSpPr>
        <p:spPr>
          <a:xfrm xmlns:a="http://schemas.openxmlformats.org/drawingml/2006/main">
            <a:off x="111442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A60"/>
                </a:solidFill>
                <a:latin typeface="Arial"/>
                <a:ea typeface="Arial"/>
                <a:cs typeface="Arial"/>
              </a:defRPr>
            </a:pPr>
            <a:r>
              <a:rPr sz="1350" b="0">
                <a:solidFill>
                  <a:srgbClr val="586A60"/>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767FE974-F669-43B2-813B-C03A2750CB8B}"/>
              </a:ext>
            </a:extLst>
          </p:cNvPr>
          <p:cNvSpPr>
            <a:spLocks xmlns:a="http://schemas.openxmlformats.org/drawingml/2006/main" noGrp="1"/>
          </p:cNvSpPr>
          <p:nvPr/>
        </p:nvSpPr>
        <p:spPr>
          <a:xfrm xmlns:a="http://schemas.openxmlformats.org/drawingml/2006/main">
            <a:off x="609600" y="198120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C2F"/>
                </a:solidFill>
                <a:latin typeface="Arial"/>
                <a:ea typeface="Arial"/>
                <a:cs typeface="Arial"/>
              </a:defRPr>
            </a:pPr>
            <a:r>
              <a:rPr sz="2700" b="1">
                <a:solidFill>
                  <a:srgbClr val="173C2F"/>
                </a:solidFill>
                <a:latin typeface="Arial"/>
                <a:ea typeface="Arial"/>
                <a:cs typeface="Arial"/>
              </a:rPr>
              <a:t>Public questions</a:t>
            </a:r>
          </a:p>
        </p:txBody>
      </p:sp>
      <p:sp>
        <p:nvSpPr>
          <p:cNvPr id="4" name="">
            <a:extLst xmlns:a="http://schemas.openxmlformats.org/drawingml/2006/main">
              <a:ext uri="{FF2B5EF4-FFF2-40B4-BE49-F238E27FC236}">
                <a16:creationId xmlns:a16="http://schemas.microsoft.com/office/drawing/2014/main" id="{61BAD203-2361-4EED-B707-EDA26B7D7BA4}"/>
              </a:ext>
            </a:extLst>
          </p:cNvPr>
          <p:cNvSpPr>
            <a:spLocks xmlns:a="http://schemas.openxmlformats.org/drawingml/2006/main" noGrp="1"/>
          </p:cNvSpPr>
          <p:nvPr/>
        </p:nvSpPr>
        <p:spPr>
          <a:xfrm xmlns:a="http://schemas.openxmlformats.org/drawingml/2006/main">
            <a:off x="609600" y="2809875"/>
            <a:ext cx="5000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86A60"/>
                </a:solidFill>
                <a:latin typeface="Arial"/>
                <a:ea typeface="Arial"/>
                <a:cs typeface="Arial"/>
              </a:defRPr>
            </a:pPr>
            <a:r>
              <a:rPr sz="2175" b="0">
                <a:solidFill>
                  <a:srgbClr val="586A60"/>
                </a:solidFill>
                <a:latin typeface="Arial"/>
                <a:ea typeface="Arial"/>
                <a:cs typeface="Arial"/>
              </a:rPr>
              <a:t>Anyone can load the quiz.</a:t>
            </a:r>
          </a:p>
          <a:p xmlns:a="http://schemas.openxmlformats.org/drawingml/2006/main">
            <a:pPr>
              <a:defRPr sz="2175" b="0">
                <a:solidFill>
                  <a:srgbClr val="586A60"/>
                </a:solidFill>
                <a:latin typeface="Arial"/>
                <a:ea typeface="Arial"/>
                <a:cs typeface="Arial"/>
              </a:defRPr>
            </a:pPr>
            <a:r>
              <a:rPr sz="2175" b="0">
                <a:solidFill>
                  <a:srgbClr val="586A60"/>
                </a:solidFill>
                <a:latin typeface="Arial"/>
                <a:ea typeface="Arial"/>
                <a:cs typeface="Arial"/>
              </a:rPr>
              <a:t>The page asks three questions about login.</a:t>
            </a:r>
          </a:p>
        </p:txBody>
      </p:sp>
      <p:sp>
        <p:nvSpPr>
          <p:cNvPr id="5" name="">
            <a:extLst xmlns:a="http://schemas.openxmlformats.org/drawingml/2006/main">
              <a:ext uri="{FF2B5EF4-FFF2-40B4-BE49-F238E27FC236}">
                <a16:creationId xmlns:a16="http://schemas.microsoft.com/office/drawing/2014/main" id="{C832201B-5132-4D5A-913E-4BF31482BF7F}"/>
              </a:ext>
            </a:extLst>
          </p:cNvPr>
          <p:cNvSpPr>
            <a:spLocks xmlns:a="http://schemas.openxmlformats.org/drawingml/2006/main" noGrp="1"/>
          </p:cNvSpPr>
          <p:nvPr/>
        </p:nvSpPr>
        <p:spPr>
          <a:xfrm xmlns:a="http://schemas.openxmlformats.org/drawingml/2006/main">
            <a:off x="6572250" y="198120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C2F"/>
                </a:solidFill>
                <a:latin typeface="Arial"/>
                <a:ea typeface="Arial"/>
                <a:cs typeface="Arial"/>
              </a:defRPr>
            </a:pPr>
            <a:r>
              <a:rPr sz="2700" b="1">
                <a:solidFill>
                  <a:srgbClr val="173C2F"/>
                </a:solidFill>
                <a:latin typeface="Arial"/>
                <a:ea typeface="Arial"/>
                <a:cs typeface="Arial"/>
              </a:rPr>
              <a:t>Private results</a:t>
            </a:r>
          </a:p>
        </p:txBody>
      </p:sp>
      <p:sp>
        <p:nvSpPr>
          <p:cNvPr id="6" name="">
            <a:extLst xmlns:a="http://schemas.openxmlformats.org/drawingml/2006/main">
              <a:ext uri="{FF2B5EF4-FFF2-40B4-BE49-F238E27FC236}">
                <a16:creationId xmlns:a16="http://schemas.microsoft.com/office/drawing/2014/main" id="{5426BC5F-CBF5-4A10-98BC-4F24039B7A07}"/>
              </a:ext>
            </a:extLst>
          </p:cNvPr>
          <p:cNvSpPr>
            <a:spLocks xmlns:a="http://schemas.openxmlformats.org/drawingml/2006/main" noGrp="1"/>
          </p:cNvSpPr>
          <p:nvPr/>
        </p:nvSpPr>
        <p:spPr>
          <a:xfrm xmlns:a="http://schemas.openxmlformats.org/drawingml/2006/main">
            <a:off x="6572250" y="2809875"/>
            <a:ext cx="5000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86A60"/>
                </a:solidFill>
                <a:latin typeface="Arial"/>
                <a:ea typeface="Arial"/>
                <a:cs typeface="Arial"/>
              </a:defRPr>
            </a:pPr>
            <a:r>
              <a:rPr sz="2175" b="0">
                <a:solidFill>
                  <a:srgbClr val="586A60"/>
                </a:solidFill>
                <a:latin typeface="Arial"/>
                <a:ea typeface="Arial"/>
                <a:cs typeface="Arial"/>
              </a:rPr>
              <a:t>Alice and Bob submit their own answers.</a:t>
            </a:r>
          </a:p>
          <a:p xmlns:a="http://schemas.openxmlformats.org/drawingml/2006/main">
            <a:pPr>
              <a:defRPr sz="2175" b="0">
                <a:solidFill>
                  <a:srgbClr val="586A60"/>
                </a:solidFill>
                <a:latin typeface="Arial"/>
                <a:ea typeface="Arial"/>
                <a:cs typeface="Arial"/>
              </a:defRPr>
            </a:pPr>
            <a:r>
              <a:rPr sz="2175" b="0">
                <a:solidFill>
                  <a:srgbClr val="586A60"/>
                </a:solidFill>
                <a:latin typeface="Arial"/>
                <a:ea typeface="Arial"/>
                <a:cs typeface="Arial"/>
              </a:rPr>
              <a:t>Each account can read its own result.</a:t>
            </a:r>
          </a:p>
        </p:txBody>
      </p:sp>
      <p:sp>
        <p:nvSpPr>
          <p:cNvPr id="7" name="">
            <a:extLst xmlns:a="http://schemas.openxmlformats.org/drawingml/2006/main">
              <a:ext uri="{FF2B5EF4-FFF2-40B4-BE49-F238E27FC236}">
                <a16:creationId xmlns:a16="http://schemas.microsoft.com/office/drawing/2014/main" id="{9CC3C1F6-D923-43D3-8864-8FC50F46AA2A}"/>
              </a:ext>
            </a:extLst>
          </p:cNvPr>
          <p:cNvSpPr>
            <a:spLocks xmlns:a="http://schemas.openxmlformats.org/drawingml/2006/main" noGrp="1"/>
          </p:cNvSpPr>
          <p:nvPr/>
        </p:nvSpPr>
        <p:spPr>
          <a:xfrm xmlns:a="http://schemas.openxmlformats.org/drawingml/2006/main">
            <a:off x="609600" y="524827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C2F"/>
                </a:solidFill>
                <a:latin typeface="Arial"/>
                <a:ea typeface="Arial"/>
                <a:cs typeface="Arial"/>
              </a:defRPr>
            </a:pPr>
            <a:r>
              <a:rPr sz="2175" b="1">
                <a:solidFill>
                  <a:srgbClr val="173C2F"/>
                </a:solidFill>
                <a:latin typeface="Arial"/>
                <a:ea typeface="Arial"/>
                <a:cs typeface="Arial"/>
              </a:rPr>
              <a:t>Supabase determines the student from the token and calculates the score.</a:t>
            </a:r>
          </a:p>
        </p:txBody>
      </p:sp>
    </p:spTree>
    <p:extLst>
      <p:ext uri="{BB962C8B-B14F-4D97-AF65-F5344CB8AC3E}">
        <p14:creationId xmlns:p14="http://schemas.microsoft.com/office/powerpoint/2010/main" val="1593369886"/>
      </p:ext>
    </p:extLst>
  </p:cSld>
</p:sld>
</file>

<file path=ppt/slides/slide3.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64985C-F724-4A9E-A676-FDD4102155B9}"/>
              </a:ext>
            </a:extLst>
          </p:cNvPr>
          <p:cNvSpPr>
            <a:spLocks xmlns:a="http://schemas.openxmlformats.org/drawingml/2006/main" noGrp="1"/>
          </p:cNvSpPr>
          <p:nvPr/>
        </p:nvSpPr>
        <p:spPr>
          <a:xfrm xmlns:a="http://schemas.openxmlformats.org/drawingml/2006/main">
            <a:off x="609600" y="42862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C2F"/>
                </a:solidFill>
                <a:latin typeface="Arial"/>
                <a:ea typeface="Arial"/>
                <a:cs typeface="Arial"/>
              </a:defRPr>
            </a:pPr>
            <a:r>
              <a:rPr sz="3450" b="1">
                <a:solidFill>
                  <a:srgbClr val="173C2F"/>
                </a:solidFill>
                <a:latin typeface="Arial"/>
                <a:ea typeface="Arial"/>
                <a:cs typeface="Arial"/>
              </a:rPr>
              <a:t>Password sign-in</a:t>
            </a:r>
          </a:p>
        </p:txBody>
      </p:sp>
      <p:sp>
        <p:nvSpPr>
          <p:cNvPr id="2" name="">
            <a:extLst xmlns:a="http://schemas.openxmlformats.org/drawingml/2006/main">
              <a:ext uri="{FF2B5EF4-FFF2-40B4-BE49-F238E27FC236}">
                <a16:creationId xmlns:a16="http://schemas.microsoft.com/office/drawing/2014/main" id="{1150141D-C7C5-44C5-AAFA-AF8A8FDF16DD}"/>
              </a:ext>
            </a:extLst>
          </p:cNvPr>
          <p:cNvSpPr>
            <a:spLocks xmlns:a="http://schemas.openxmlformats.org/drawingml/2006/main" noGrp="1"/>
          </p:cNvSpPr>
          <p:nvPr/>
        </p:nvSpPr>
        <p:spPr>
          <a:xfrm xmlns:a="http://schemas.openxmlformats.org/drawingml/2006/main">
            <a:off x="111442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A60"/>
                </a:solidFill>
                <a:latin typeface="Arial"/>
                <a:ea typeface="Arial"/>
                <a:cs typeface="Arial"/>
              </a:defRPr>
            </a:pPr>
            <a:r>
              <a:rPr sz="1350" b="0">
                <a:solidFill>
                  <a:srgbClr val="586A60"/>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EFFFEB81-07FE-45E0-AB10-E2DDF3665DDD}"/>
              </a:ext>
            </a:extLst>
          </p:cNvPr>
          <p:cNvSpPr>
            <a:spLocks xmlns:a="http://schemas.openxmlformats.org/drawingml/2006/main" noGrp="1"/>
          </p:cNvSpPr>
          <p:nvPr/>
        </p:nvSpPr>
        <p:spPr>
          <a:xfrm xmlns:a="http://schemas.openxmlformats.org/drawingml/2006/main">
            <a:off x="609600" y="166687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A6A2B"/>
                </a:solidFill>
                <a:latin typeface="Arial"/>
                <a:ea typeface="Arial"/>
                <a:cs typeface="Arial"/>
              </a:defRPr>
            </a:pPr>
            <a:r>
              <a:rPr sz="3150" b="1">
                <a:solidFill>
                  <a:srgbClr val="9A6A2B"/>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1CB416B7-9088-4EE1-ADAE-A9126CF86A0C}"/>
              </a:ext>
            </a:extLst>
          </p:cNvPr>
          <p:cNvSpPr>
            <a:spLocks xmlns:a="http://schemas.openxmlformats.org/drawingml/2006/main" noGrp="1"/>
          </p:cNvSpPr>
          <p:nvPr/>
        </p:nvSpPr>
        <p:spPr>
          <a:xfrm xmlns:a="http://schemas.openxmlformats.org/drawingml/2006/main">
            <a:off x="1571625" y="1666875"/>
            <a:ext cx="990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C2F"/>
                </a:solidFill>
                <a:latin typeface="Arial"/>
                <a:ea typeface="Arial"/>
                <a:cs typeface="Arial"/>
              </a:defRPr>
            </a:pPr>
            <a:r>
              <a:rPr sz="2175" b="1">
                <a:solidFill>
                  <a:srgbClr val="173C2F"/>
                </a:solidFill>
                <a:latin typeface="Arial"/>
                <a:ea typeface="Arial"/>
                <a:cs typeface="Arial"/>
              </a:rPr>
              <a:t>The browser sends the credentials</a:t>
            </a:r>
          </a:p>
        </p:txBody>
      </p:sp>
      <p:sp>
        <p:nvSpPr>
          <p:cNvPr id="5" name="">
            <a:extLst xmlns:a="http://schemas.openxmlformats.org/drawingml/2006/main">
              <a:ext uri="{FF2B5EF4-FFF2-40B4-BE49-F238E27FC236}">
                <a16:creationId xmlns:a16="http://schemas.microsoft.com/office/drawing/2014/main" id="{66FED461-8142-427B-8086-B0D465E6594B}"/>
              </a:ext>
            </a:extLst>
          </p:cNvPr>
          <p:cNvSpPr>
            <a:spLocks xmlns:a="http://schemas.openxmlformats.org/drawingml/2006/main" noGrp="1"/>
          </p:cNvSpPr>
          <p:nvPr/>
        </p:nvSpPr>
        <p:spPr>
          <a:xfrm xmlns:a="http://schemas.openxmlformats.org/drawingml/2006/main">
            <a:off x="1571625" y="2133600"/>
            <a:ext cx="971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A60"/>
                </a:solidFill>
                <a:latin typeface="Arial"/>
                <a:ea typeface="Arial"/>
                <a:cs typeface="Arial"/>
              </a:defRPr>
            </a:pPr>
            <a:r>
              <a:rPr sz="1875" b="0">
                <a:solidFill>
                  <a:srgbClr val="586A60"/>
                </a:solidFill>
                <a:latin typeface="Arial"/>
                <a:ea typeface="Arial"/>
                <a:cs typeface="Arial"/>
              </a:rPr>
              <a:t>HTTPS protects the email and password while they travel to Supabase Auth.</a:t>
            </a:r>
          </a:p>
        </p:txBody>
      </p:sp>
      <p:sp>
        <p:nvSpPr>
          <p:cNvPr id="6" name="">
            <a:extLst xmlns:a="http://schemas.openxmlformats.org/drawingml/2006/main">
              <a:ext uri="{FF2B5EF4-FFF2-40B4-BE49-F238E27FC236}">
                <a16:creationId xmlns:a16="http://schemas.microsoft.com/office/drawing/2014/main" id="{5AE7C787-F8A5-4923-8118-A0658E83A6F3}"/>
              </a:ext>
            </a:extLst>
          </p:cNvPr>
          <p:cNvSpPr>
            <a:spLocks xmlns:a="http://schemas.openxmlformats.org/drawingml/2006/main" noGrp="1"/>
          </p:cNvSpPr>
          <p:nvPr/>
        </p:nvSpPr>
        <p:spPr>
          <a:xfrm xmlns:a="http://schemas.openxmlformats.org/drawingml/2006/main">
            <a:off x="609600" y="31432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A6A2B"/>
                </a:solidFill>
                <a:latin typeface="Arial"/>
                <a:ea typeface="Arial"/>
                <a:cs typeface="Arial"/>
              </a:defRPr>
            </a:pPr>
            <a:r>
              <a:rPr sz="3150" b="1">
                <a:solidFill>
                  <a:srgbClr val="9A6A2B"/>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E490A26C-1156-412A-8E18-433A2CCFB43A}"/>
              </a:ext>
            </a:extLst>
          </p:cNvPr>
          <p:cNvSpPr>
            <a:spLocks xmlns:a="http://schemas.openxmlformats.org/drawingml/2006/main" noGrp="1"/>
          </p:cNvSpPr>
          <p:nvPr/>
        </p:nvSpPr>
        <p:spPr>
          <a:xfrm xmlns:a="http://schemas.openxmlformats.org/drawingml/2006/main">
            <a:off x="1571625" y="3143250"/>
            <a:ext cx="990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C2F"/>
                </a:solidFill>
                <a:latin typeface="Arial"/>
                <a:ea typeface="Arial"/>
                <a:cs typeface="Arial"/>
              </a:defRPr>
            </a:pPr>
            <a:r>
              <a:rPr sz="2175" b="1">
                <a:solidFill>
                  <a:srgbClr val="173C2F"/>
                </a:solidFill>
                <a:latin typeface="Arial"/>
                <a:ea typeface="Arial"/>
                <a:cs typeface="Arial"/>
              </a:rPr>
              <a:t>Supabase checks the password</a:t>
            </a:r>
          </a:p>
        </p:txBody>
      </p:sp>
      <p:sp>
        <p:nvSpPr>
          <p:cNvPr id="8" name="">
            <a:extLst xmlns:a="http://schemas.openxmlformats.org/drawingml/2006/main">
              <a:ext uri="{FF2B5EF4-FFF2-40B4-BE49-F238E27FC236}">
                <a16:creationId xmlns:a16="http://schemas.microsoft.com/office/drawing/2014/main" id="{F27898D0-6B04-4660-82CF-31DA41D9CB57}"/>
              </a:ext>
            </a:extLst>
          </p:cNvPr>
          <p:cNvSpPr>
            <a:spLocks xmlns:a="http://schemas.openxmlformats.org/drawingml/2006/main" noGrp="1"/>
          </p:cNvSpPr>
          <p:nvPr/>
        </p:nvSpPr>
        <p:spPr>
          <a:xfrm xmlns:a="http://schemas.openxmlformats.org/drawingml/2006/main">
            <a:off x="1571625" y="3609975"/>
            <a:ext cx="971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A60"/>
                </a:solidFill>
                <a:latin typeface="Arial"/>
                <a:ea typeface="Arial"/>
                <a:cs typeface="Arial"/>
              </a:defRPr>
            </a:pPr>
            <a:r>
              <a:rPr sz="1875" b="0">
                <a:solidFill>
                  <a:srgbClr val="586A60"/>
                </a:solidFill>
                <a:latin typeface="Arial"/>
                <a:ea typeface="Arial"/>
                <a:cs typeface="Arial"/>
              </a:rPr>
              <a:t>It checks against a salted bcrypt hash stored on the server.</a:t>
            </a:r>
          </a:p>
        </p:txBody>
      </p:sp>
      <p:sp>
        <p:nvSpPr>
          <p:cNvPr id="9" name="">
            <a:extLst xmlns:a="http://schemas.openxmlformats.org/drawingml/2006/main">
              <a:ext uri="{FF2B5EF4-FFF2-40B4-BE49-F238E27FC236}">
                <a16:creationId xmlns:a16="http://schemas.microsoft.com/office/drawing/2014/main" id="{91DEBB0B-E114-4116-B905-C43EF7FC8C88}"/>
              </a:ext>
            </a:extLst>
          </p:cNvPr>
          <p:cNvSpPr>
            <a:spLocks xmlns:a="http://schemas.openxmlformats.org/drawingml/2006/main" noGrp="1"/>
          </p:cNvSpPr>
          <p:nvPr/>
        </p:nvSpPr>
        <p:spPr>
          <a:xfrm xmlns:a="http://schemas.openxmlformats.org/drawingml/2006/main">
            <a:off x="609600" y="461962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A6A2B"/>
                </a:solidFill>
                <a:latin typeface="Arial"/>
                <a:ea typeface="Arial"/>
                <a:cs typeface="Arial"/>
              </a:defRPr>
            </a:pPr>
            <a:r>
              <a:rPr sz="3150" b="1">
                <a:solidFill>
                  <a:srgbClr val="9A6A2B"/>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D3B5E8C5-EED5-4C71-AFBF-0C369ED0D2FC}"/>
              </a:ext>
            </a:extLst>
          </p:cNvPr>
          <p:cNvSpPr>
            <a:spLocks xmlns:a="http://schemas.openxmlformats.org/drawingml/2006/main" noGrp="1"/>
          </p:cNvSpPr>
          <p:nvPr/>
        </p:nvSpPr>
        <p:spPr>
          <a:xfrm xmlns:a="http://schemas.openxmlformats.org/drawingml/2006/main">
            <a:off x="1571625" y="4619625"/>
            <a:ext cx="990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C2F"/>
                </a:solidFill>
                <a:latin typeface="Arial"/>
                <a:ea typeface="Arial"/>
                <a:cs typeface="Arial"/>
              </a:defRPr>
            </a:pPr>
            <a:r>
              <a:rPr sz="2175" b="1">
                <a:solidFill>
                  <a:srgbClr val="173C2F"/>
                </a:solidFill>
                <a:latin typeface="Arial"/>
                <a:ea typeface="Arial"/>
                <a:cs typeface="Arial"/>
              </a:rPr>
              <a:t>Supabase returns a session</a:t>
            </a:r>
          </a:p>
        </p:txBody>
      </p:sp>
      <p:sp>
        <p:nvSpPr>
          <p:cNvPr id="11" name="">
            <a:extLst xmlns:a="http://schemas.openxmlformats.org/drawingml/2006/main">
              <a:ext uri="{FF2B5EF4-FFF2-40B4-BE49-F238E27FC236}">
                <a16:creationId xmlns:a16="http://schemas.microsoft.com/office/drawing/2014/main" id="{C1AC6CCD-43A8-4D4C-8747-CEBB5E0DC428}"/>
              </a:ext>
            </a:extLst>
          </p:cNvPr>
          <p:cNvSpPr>
            <a:spLocks xmlns:a="http://schemas.openxmlformats.org/drawingml/2006/main" noGrp="1"/>
          </p:cNvSpPr>
          <p:nvPr/>
        </p:nvSpPr>
        <p:spPr>
          <a:xfrm xmlns:a="http://schemas.openxmlformats.org/drawingml/2006/main">
            <a:off x="1571625" y="5086350"/>
            <a:ext cx="971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A60"/>
                </a:solidFill>
                <a:latin typeface="Arial"/>
                <a:ea typeface="Arial"/>
                <a:cs typeface="Arial"/>
              </a:defRPr>
            </a:pPr>
            <a:r>
              <a:rPr sz="1875" b="0">
                <a:solidFill>
                  <a:srgbClr val="586A60"/>
                </a:solidFill>
                <a:latin typeface="Arial"/>
                <a:ea typeface="Arial"/>
                <a:cs typeface="Arial"/>
              </a:rPr>
              <a:t>The browser receives tokens and clears the password field.</a:t>
            </a:r>
          </a:p>
        </p:txBody>
      </p:sp>
    </p:spTree>
    <p:extLst>
      <p:ext uri="{BB962C8B-B14F-4D97-AF65-F5344CB8AC3E}">
        <p14:creationId xmlns:p14="http://schemas.microsoft.com/office/powerpoint/2010/main" val="1926536637"/>
      </p:ext>
    </p:extLst>
  </p:cSld>
</p:sld>
</file>

<file path=ppt/slides/slide4.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4CA61E0-CEE5-403A-827D-46193AA9BA7F}"/>
              </a:ext>
            </a:extLst>
          </p:cNvPr>
          <p:cNvSpPr>
            <a:spLocks xmlns:a="http://schemas.openxmlformats.org/drawingml/2006/main" noGrp="1"/>
          </p:cNvSpPr>
          <p:nvPr/>
        </p:nvSpPr>
        <p:spPr>
          <a:xfrm xmlns:a="http://schemas.openxmlformats.org/drawingml/2006/main">
            <a:off x="609600" y="42862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C2F"/>
                </a:solidFill>
                <a:latin typeface="Arial"/>
                <a:ea typeface="Arial"/>
                <a:cs typeface="Arial"/>
              </a:defRPr>
            </a:pPr>
            <a:r>
              <a:rPr sz="3450" b="1">
                <a:solidFill>
                  <a:srgbClr val="173C2F"/>
                </a:solidFill>
                <a:latin typeface="Arial"/>
                <a:ea typeface="Arial"/>
                <a:cs typeface="Arial"/>
              </a:rPr>
              <a:t>A session contains two different tokens</a:t>
            </a:r>
          </a:p>
        </p:txBody>
      </p:sp>
      <p:sp>
        <p:nvSpPr>
          <p:cNvPr id="2" name="">
            <a:extLst xmlns:a="http://schemas.openxmlformats.org/drawingml/2006/main">
              <a:ext uri="{FF2B5EF4-FFF2-40B4-BE49-F238E27FC236}">
                <a16:creationId xmlns:a16="http://schemas.microsoft.com/office/drawing/2014/main" id="{F89E055B-5A57-4E05-A829-F3F39CD76685}"/>
              </a:ext>
            </a:extLst>
          </p:cNvPr>
          <p:cNvSpPr>
            <a:spLocks xmlns:a="http://schemas.openxmlformats.org/drawingml/2006/main" noGrp="1"/>
          </p:cNvSpPr>
          <p:nvPr/>
        </p:nvSpPr>
        <p:spPr>
          <a:xfrm xmlns:a="http://schemas.openxmlformats.org/drawingml/2006/main">
            <a:off x="111442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A60"/>
                </a:solidFill>
                <a:latin typeface="Arial"/>
                <a:ea typeface="Arial"/>
                <a:cs typeface="Arial"/>
              </a:defRPr>
            </a:pPr>
            <a:r>
              <a:rPr sz="1350" b="0">
                <a:solidFill>
                  <a:srgbClr val="586A60"/>
                </a:solidFill>
                <a:latin typeface="Arial"/>
                <a:ea typeface="Arial"/>
                <a:cs typeface="Arial"/>
              </a:rPr>
              <a:t>04</a:t>
            </a:r>
          </a:p>
        </p:txBody>
      </p:sp>
      <p:graphicFrame>
        <p:nvGraphicFramePr>
          <p:cNvPr id="7" name=""/>
          <p:cNvGraphicFramePr/>
          <p:nvPr/>
        </p:nvGraphicFramePr>
        <p:xfrm>
          <a:off xmlns:a="http://schemas.openxmlformats.org/drawingml/2006/main" x="609600" y="1809750"/>
          <a:ext xmlns:a="http://schemas.openxmlformats.org/drawingml/2006/main" cx="10972800" cy="3095625"/>
        </p:xfrm>
        <a:graphic xmlns:a="http://schemas.openxmlformats.org/drawingml/2006/main">
          <a:graphicData uri="http://schemas.openxmlformats.org/drawingml/2006/table">
            <a:tbl>
              <a:tblPr/>
              <a:tblGrid>
                <a:gridCol w="2381250"/>
                <a:gridCol w="4524375"/>
                <a:gridCol w="4067175"/>
              </a:tblGrid>
              <a:tr h="773906">
                <a:tc>
                  <a:txBody>
                    <a:bodyPr>
                      <a:noAutofit/>
                    </a:bodyPr>
                    <a:lstStyle/>
                    <a:p>
                      <a:r>
                        <a:rPr sz="1875" b="1">
                          <a:solidFill>
                            <a:srgbClr val="FFFFFF"/>
                          </a:solidFill>
                          <a:latin typeface="Arial"/>
                          <a:ea typeface="Arial"/>
                          <a:cs typeface="Arial"/>
                        </a:rPr>
                        <a:t>Item</a:t>
                      </a:r>
                    </a:p>
                  </a:txBody>
                  <a:tcPr marL="91440" marR="91440" marT="45720" marB="45720">
                    <a:solidFill>
                      <a:srgbClr val="173C2F"/>
                    </a:solidFill>
                  </a:tcPr>
                </a:tc>
                <a:tc>
                  <a:txBody>
                    <a:bodyPr>
                      <a:noAutofit/>
                    </a:bodyPr>
                    <a:lstStyle/>
                    <a:p>
                      <a:r>
                        <a:rPr sz="1875" b="1">
                          <a:solidFill>
                            <a:srgbClr val="FFFFFF"/>
                          </a:solidFill>
                          <a:latin typeface="Arial"/>
                          <a:ea typeface="Arial"/>
                          <a:cs typeface="Arial"/>
                        </a:rPr>
                        <a:t>Purpose</a:t>
                      </a:r>
                    </a:p>
                  </a:txBody>
                  <a:tcPr marL="91440" marR="91440" marT="45720" marB="45720">
                    <a:solidFill>
                      <a:srgbClr val="173C2F"/>
                    </a:solidFill>
                  </a:tcPr>
                </a:tc>
                <a:tc>
                  <a:txBody>
                    <a:bodyPr>
                      <a:noAutofit/>
                    </a:bodyPr>
                    <a:lstStyle/>
                    <a:p>
                      <a:r>
                        <a:rPr sz="1875" b="1">
                          <a:solidFill>
                            <a:srgbClr val="FFFFFF"/>
                          </a:solidFill>
                          <a:latin typeface="Arial"/>
                          <a:ea typeface="Arial"/>
                          <a:cs typeface="Arial"/>
                        </a:rPr>
                        <a:t>Used by this demo</a:t>
                      </a:r>
                    </a:p>
                  </a:txBody>
                  <a:tcPr marL="91440" marR="91440" marT="45720" marB="45720">
                    <a:solidFill>
                      <a:srgbClr val="173C2F"/>
                    </a:solidFill>
                  </a:tcPr>
                </a:tc>
              </a:tr>
              <a:tr h="773906">
                <a:tc>
                  <a:txBody>
                    <a:bodyPr>
                      <a:noAutofit/>
                    </a:bodyPr>
                    <a:lstStyle/>
                    <a:p>
                      <a:r>
                        <a:rPr sz="1875" b="0">
                          <a:solidFill>
                            <a:srgbClr val="173C2F"/>
                          </a:solidFill>
                          <a:latin typeface="Arial"/>
                          <a:ea typeface="Arial"/>
                          <a:cs typeface="Arial"/>
                        </a:rPr>
                        <a:t>Session</a:t>
                      </a:r>
                    </a:p>
                  </a:txBody>
                  <a:tcPr marL="91440" marR="91440" marT="45720" marB="45720">
                    <a:solidFill>
                      <a:srgbClr val="FFFFFF"/>
                    </a:solidFill>
                  </a:tcPr>
                </a:tc>
                <a:tc>
                  <a:txBody>
                    <a:bodyPr>
                      <a:noAutofit/>
                    </a:bodyPr>
                    <a:lstStyle/>
                    <a:p>
                      <a:r>
                        <a:rPr sz="1875" b="0">
                          <a:solidFill>
                            <a:srgbClr val="173C2F"/>
                          </a:solidFill>
                          <a:latin typeface="Arial"/>
                          <a:ea typeface="Arial"/>
                          <a:cs typeface="Arial"/>
                        </a:rPr>
                        <a:t>A signed-in relationship with the service</a:t>
                      </a:r>
                    </a:p>
                  </a:txBody>
                  <a:tcPr marL="91440" marR="91440" marT="45720" marB="45720">
                    <a:solidFill>
                      <a:srgbClr val="FFFFFF"/>
                    </a:solidFill>
                  </a:tcPr>
                </a:tc>
                <a:tc>
                  <a:txBody>
                    <a:bodyPr>
                      <a:noAutofit/>
                    </a:bodyPr>
                    <a:lstStyle/>
                    <a:p>
                      <a:r>
                        <a:rPr sz="1875" b="0">
                          <a:solidFill>
                            <a:srgbClr val="173C2F"/>
                          </a:solidFill>
                          <a:latin typeface="Arial"/>
                          <a:ea typeface="Arial"/>
                          <a:cs typeface="Arial"/>
                        </a:rPr>
                        <a:t>Saved across page reloads</a:t>
                      </a:r>
                    </a:p>
                  </a:txBody>
                  <a:tcPr marL="91440" marR="91440" marT="45720" marB="45720">
                    <a:solidFill>
                      <a:srgbClr val="FFFFFF"/>
                    </a:solidFill>
                  </a:tcPr>
                </a:tc>
              </a:tr>
              <a:tr h="773906">
                <a:tc>
                  <a:txBody>
                    <a:bodyPr>
                      <a:noAutofit/>
                    </a:bodyPr>
                    <a:lstStyle/>
                    <a:p>
                      <a:r>
                        <a:rPr sz="1875" b="0">
                          <a:solidFill>
                            <a:srgbClr val="173C2F"/>
                          </a:solidFill>
                          <a:latin typeface="Arial"/>
                          <a:ea typeface="Arial"/>
                          <a:cs typeface="Arial"/>
                        </a:rPr>
                        <a:t>Access token</a:t>
                      </a:r>
                    </a:p>
                  </a:txBody>
                  <a:tcPr marL="91440" marR="91440" marT="45720" marB="45720">
                    <a:solidFill>
                      <a:srgbClr val="EDF1EA"/>
                    </a:solidFill>
                  </a:tcPr>
                </a:tc>
                <a:tc>
                  <a:txBody>
                    <a:bodyPr>
                      <a:noAutofit/>
                    </a:bodyPr>
                    <a:lstStyle/>
                    <a:p>
                      <a:r>
                        <a:rPr sz="1875" b="0">
                          <a:solidFill>
                            <a:srgbClr val="173C2F"/>
                          </a:solidFill>
                          <a:latin typeface="Arial"/>
                          <a:ea typeface="Arial"/>
                          <a:cs typeface="Arial"/>
                        </a:rPr>
                        <a:t>Identifies the user on API requests</a:t>
                      </a:r>
                    </a:p>
                  </a:txBody>
                  <a:tcPr marL="91440" marR="91440" marT="45720" marB="45720">
                    <a:solidFill>
                      <a:srgbClr val="EDF1EA"/>
                    </a:solidFill>
                  </a:tcPr>
                </a:tc>
                <a:tc>
                  <a:txBody>
                    <a:bodyPr>
                      <a:noAutofit/>
                    </a:bodyPr>
                    <a:lstStyle/>
                    <a:p>
                      <a:r>
                        <a:rPr sz="1875" b="0">
                          <a:solidFill>
                            <a:srgbClr val="173C2F"/>
                          </a:solidFill>
                          <a:latin typeface="Arial"/>
                          <a:ea typeface="Arial"/>
                          <a:cs typeface="Arial"/>
                        </a:rPr>
                        <a:t>Attached as a bearer token</a:t>
                      </a:r>
                    </a:p>
                  </a:txBody>
                  <a:tcPr marL="91440" marR="91440" marT="45720" marB="45720">
                    <a:solidFill>
                      <a:srgbClr val="EDF1EA"/>
                    </a:solidFill>
                  </a:tcPr>
                </a:tc>
              </a:tr>
              <a:tr h="773906">
                <a:tc>
                  <a:txBody>
                    <a:bodyPr>
                      <a:noAutofit/>
                    </a:bodyPr>
                    <a:lstStyle/>
                    <a:p>
                      <a:r>
                        <a:rPr sz="1875" b="0">
                          <a:solidFill>
                            <a:srgbClr val="173C2F"/>
                          </a:solidFill>
                          <a:latin typeface="Arial"/>
                          <a:ea typeface="Arial"/>
                          <a:cs typeface="Arial"/>
                        </a:rPr>
                        <a:t>Refresh token</a:t>
                      </a:r>
                    </a:p>
                  </a:txBody>
                  <a:tcPr marL="91440" marR="91440" marT="45720" marB="45720">
                    <a:solidFill>
                      <a:srgbClr val="FFFFFF"/>
                    </a:solidFill>
                  </a:tcPr>
                </a:tc>
                <a:tc>
                  <a:txBody>
                    <a:bodyPr>
                      <a:noAutofit/>
                    </a:bodyPr>
                    <a:lstStyle/>
                    <a:p>
                      <a:r>
                        <a:rPr sz="1875" b="0">
                          <a:solidFill>
                            <a:srgbClr val="173C2F"/>
                          </a:solidFill>
                          <a:latin typeface="Arial"/>
                          <a:ea typeface="Arial"/>
                          <a:cs typeface="Arial"/>
                        </a:rPr>
                        <a:t>Obtains a new access token</a:t>
                      </a:r>
                    </a:p>
                  </a:txBody>
                  <a:tcPr marL="91440" marR="91440" marT="45720" marB="45720">
                    <a:solidFill>
                      <a:srgbClr val="FFFFFF"/>
                    </a:solidFill>
                  </a:tcPr>
                </a:tc>
                <a:tc>
                  <a:txBody>
                    <a:bodyPr>
                      <a:noAutofit/>
                    </a:bodyPr>
                    <a:lstStyle/>
                    <a:p>
                      <a:r>
                        <a:rPr sz="1875" b="0">
                          <a:solidFill>
                            <a:srgbClr val="173C2F"/>
                          </a:solidFill>
                          <a:latin typeface="Arial"/>
                          <a:ea typeface="Arial"/>
                          <a:cs typeface="Arial"/>
                        </a:rPr>
                        <a:t>Stored, but automatic refresh is absent</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F24F7D4-3F5F-4A3F-90F7-FB2447623843}"/>
              </a:ext>
            </a:extLst>
          </p:cNvPr>
          <p:cNvSpPr>
            <a:spLocks xmlns:a="http://schemas.openxmlformats.org/drawingml/2006/main" noGrp="1"/>
          </p:cNvSpPr>
          <p:nvPr/>
        </p:nvSpPr>
        <p:spPr>
          <a:xfrm xmlns:a="http://schemas.openxmlformats.org/drawingml/2006/main">
            <a:off x="609600" y="54387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86A60"/>
                </a:solidFill>
                <a:latin typeface="Arial"/>
                <a:ea typeface="Arial"/>
                <a:cs typeface="Arial"/>
              </a:defRPr>
            </a:pPr>
            <a:r>
              <a:rPr sz="2100" b="0">
                <a:solidFill>
                  <a:srgbClr val="586A60"/>
                </a:solidFill>
                <a:latin typeface="Arial"/>
                <a:ea typeface="Arial"/>
                <a:cs typeface="Arial"/>
              </a:rPr>
              <a:t>After the access token expires, sign in again to continue.</a:t>
            </a:r>
          </a:p>
        </p:txBody>
      </p:sp>
    </p:spTree>
    <p:extLst>
      <p:ext uri="{BB962C8B-B14F-4D97-AF65-F5344CB8AC3E}">
        <p14:creationId xmlns:p14="http://schemas.microsoft.com/office/powerpoint/2010/main" val="418036329"/>
      </p:ext>
    </p:extLst>
  </p:cSld>
</p:sld>
</file>

<file path=ppt/slides/slide5.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DC18A4D-537A-48D7-B15D-F6497187B200}"/>
              </a:ext>
            </a:extLst>
          </p:cNvPr>
          <p:cNvSpPr>
            <a:spLocks xmlns:a="http://schemas.openxmlformats.org/drawingml/2006/main" noGrp="1"/>
          </p:cNvSpPr>
          <p:nvPr/>
        </p:nvSpPr>
        <p:spPr>
          <a:xfrm xmlns:a="http://schemas.openxmlformats.org/drawingml/2006/main">
            <a:off x="609600" y="42862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C2F"/>
                </a:solidFill>
                <a:latin typeface="Arial"/>
                <a:ea typeface="Arial"/>
                <a:cs typeface="Arial"/>
              </a:defRPr>
            </a:pPr>
            <a:r>
              <a:rPr sz="3450" b="1">
                <a:solidFill>
                  <a:srgbClr val="173C2F"/>
                </a:solidFill>
                <a:latin typeface="Arial"/>
                <a:ea typeface="Arial"/>
                <a:cs typeface="Arial"/>
              </a:rPr>
              <a:t>How the page remembers you</a:t>
            </a:r>
          </a:p>
        </p:txBody>
      </p:sp>
      <p:sp>
        <p:nvSpPr>
          <p:cNvPr id="2" name="">
            <a:extLst xmlns:a="http://schemas.openxmlformats.org/drawingml/2006/main">
              <a:ext uri="{FF2B5EF4-FFF2-40B4-BE49-F238E27FC236}">
                <a16:creationId xmlns:a16="http://schemas.microsoft.com/office/drawing/2014/main" id="{6F3E25F3-F3D6-47DD-8146-F3E907A839B9}"/>
              </a:ext>
            </a:extLst>
          </p:cNvPr>
          <p:cNvSpPr>
            <a:spLocks xmlns:a="http://schemas.openxmlformats.org/drawingml/2006/main" noGrp="1"/>
          </p:cNvSpPr>
          <p:nvPr/>
        </p:nvSpPr>
        <p:spPr>
          <a:xfrm xmlns:a="http://schemas.openxmlformats.org/drawingml/2006/main">
            <a:off x="111442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A60"/>
                </a:solidFill>
                <a:latin typeface="Arial"/>
                <a:ea typeface="Arial"/>
                <a:cs typeface="Arial"/>
              </a:defRPr>
            </a:pPr>
            <a:r>
              <a:rPr sz="1350" b="0">
                <a:solidFill>
                  <a:srgbClr val="586A60"/>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7BA34E23-8AF5-41E3-9053-9942658A547C}"/>
              </a:ext>
            </a:extLst>
          </p:cNvPr>
          <p:cNvSpPr>
            <a:spLocks xmlns:a="http://schemas.openxmlformats.org/drawingml/2006/main" noGrp="1"/>
          </p:cNvSpPr>
          <p:nvPr/>
        </p:nvSpPr>
        <p:spPr>
          <a:xfrm xmlns:a="http://schemas.openxmlformats.org/drawingml/2006/main">
            <a:off x="609600" y="195262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3C2F"/>
                </a:solidFill>
                <a:latin typeface="Arial"/>
                <a:ea typeface="Arial"/>
                <a:cs typeface="Arial"/>
              </a:defRPr>
            </a:pPr>
            <a:r>
              <a:rPr sz="2625" b="1">
                <a:solidFill>
                  <a:srgbClr val="173C2F"/>
                </a:solidFill>
                <a:latin typeface="Arial"/>
                <a:ea typeface="Arial"/>
                <a:cs typeface="Arial"/>
              </a:rPr>
              <a:t>In this browser</a:t>
            </a:r>
          </a:p>
        </p:txBody>
      </p:sp>
      <p:sp>
        <p:nvSpPr>
          <p:cNvPr id="4" name="">
            <a:extLst xmlns:a="http://schemas.openxmlformats.org/drawingml/2006/main">
              <a:ext uri="{FF2B5EF4-FFF2-40B4-BE49-F238E27FC236}">
                <a16:creationId xmlns:a16="http://schemas.microsoft.com/office/drawing/2014/main" id="{EF3F07D2-77A2-4569-9711-583F9A6B0535}"/>
              </a:ext>
            </a:extLst>
          </p:cNvPr>
          <p:cNvSpPr>
            <a:spLocks xmlns:a="http://schemas.openxmlformats.org/drawingml/2006/main" noGrp="1"/>
          </p:cNvSpPr>
          <p:nvPr/>
        </p:nvSpPr>
        <p:spPr>
          <a:xfrm xmlns:a="http://schemas.openxmlformats.org/drawingml/2006/main">
            <a:off x="609600" y="2714625"/>
            <a:ext cx="5286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86A60"/>
                </a:solidFill>
                <a:latin typeface="Arial"/>
                <a:ea typeface="Arial"/>
                <a:cs typeface="Arial"/>
              </a:defRPr>
            </a:pPr>
            <a:r>
              <a:rPr sz="2100" b="0">
                <a:solidFill>
                  <a:srgbClr val="586A60"/>
                </a:solidFill>
                <a:latin typeface="Arial"/>
                <a:ea typeface="Arial"/>
                <a:cs typeface="Arial"/>
              </a:rPr>
              <a:t>localStorage keeps the session under:</a:t>
            </a:r>
          </a:p>
        </p:txBody>
      </p:sp>
      <p:sp>
        <p:nvSpPr>
          <p:cNvPr id="5" name="">
            <a:extLst xmlns:a="http://schemas.openxmlformats.org/drawingml/2006/main">
              <a:ext uri="{FF2B5EF4-FFF2-40B4-BE49-F238E27FC236}">
                <a16:creationId xmlns:a16="http://schemas.microsoft.com/office/drawing/2014/main" id="{B63E7B25-4823-44FC-AFFD-29F311A4346F}"/>
              </a:ext>
            </a:extLst>
          </p:cNvPr>
          <p:cNvSpPr>
            <a:spLocks xmlns:a="http://schemas.openxmlformats.org/drawingml/2006/main" noGrp="1"/>
          </p:cNvSpPr>
          <p:nvPr/>
        </p:nvSpPr>
        <p:spPr>
          <a:xfrm xmlns:a="http://schemas.openxmlformats.org/drawingml/2006/main">
            <a:off x="609600" y="3581400"/>
            <a:ext cx="5524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C2F"/>
                </a:solidFill>
                <a:latin typeface="Arial"/>
                <a:ea typeface="Arial"/>
                <a:cs typeface="Arial"/>
              </a:defRPr>
            </a:pPr>
            <a:r>
              <a:rPr sz="2100" b="1">
                <a:solidFill>
                  <a:srgbClr val="173C2F"/>
                </a:solidFill>
                <a:latin typeface="Arial"/>
                <a:ea typeface="Arial"/>
                <a:cs typeface="Arial"/>
              </a:rPr>
              <a:t>team3-student-session-v1</a:t>
            </a:r>
          </a:p>
        </p:txBody>
      </p:sp>
      <p:sp>
        <p:nvSpPr>
          <p:cNvPr id="6" name="">
            <a:extLst xmlns:a="http://schemas.openxmlformats.org/drawingml/2006/main">
              <a:ext uri="{FF2B5EF4-FFF2-40B4-BE49-F238E27FC236}">
                <a16:creationId xmlns:a16="http://schemas.microsoft.com/office/drawing/2014/main" id="{A4BD2C86-999A-40F9-A18F-69E7DA8F4B2A}"/>
              </a:ext>
            </a:extLst>
          </p:cNvPr>
          <p:cNvSpPr>
            <a:spLocks xmlns:a="http://schemas.openxmlformats.org/drawingml/2006/main" noGrp="1"/>
          </p:cNvSpPr>
          <p:nvPr/>
        </p:nvSpPr>
        <p:spPr>
          <a:xfrm xmlns:a="http://schemas.openxmlformats.org/drawingml/2006/main">
            <a:off x="6762750" y="1952625"/>
            <a:ext cx="4810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3C2F"/>
                </a:solidFill>
                <a:latin typeface="Arial"/>
                <a:ea typeface="Arial"/>
                <a:cs typeface="Arial"/>
              </a:defRPr>
            </a:pPr>
            <a:r>
              <a:rPr sz="2625" b="1">
                <a:solidFill>
                  <a:srgbClr val="173C2F"/>
                </a:solidFill>
                <a:latin typeface="Arial"/>
                <a:ea typeface="Arial"/>
                <a:cs typeface="Arial"/>
              </a:rPr>
              <a:t>After a reload</a:t>
            </a:r>
          </a:p>
        </p:txBody>
      </p:sp>
      <p:sp>
        <p:nvSpPr>
          <p:cNvPr id="7" name="">
            <a:extLst xmlns:a="http://schemas.openxmlformats.org/drawingml/2006/main">
              <a:ext uri="{FF2B5EF4-FFF2-40B4-BE49-F238E27FC236}">
                <a16:creationId xmlns:a16="http://schemas.microsoft.com/office/drawing/2014/main" id="{01DE915D-968E-4C8D-9AFA-97E6087B2E8B}"/>
              </a:ext>
            </a:extLst>
          </p:cNvPr>
          <p:cNvSpPr>
            <a:spLocks xmlns:a="http://schemas.openxmlformats.org/drawingml/2006/main" noGrp="1"/>
          </p:cNvSpPr>
          <p:nvPr/>
        </p:nvSpPr>
        <p:spPr>
          <a:xfrm xmlns:a="http://schemas.openxmlformats.org/drawingml/2006/main">
            <a:off x="6762750" y="2743200"/>
            <a:ext cx="4762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86A60"/>
                </a:solidFill>
                <a:latin typeface="Arial"/>
                <a:ea typeface="Arial"/>
                <a:cs typeface="Arial"/>
              </a:defRPr>
            </a:pPr>
            <a:r>
              <a:rPr sz="2175" b="0">
                <a:solidFill>
                  <a:srgbClr val="586A60"/>
                </a:solidFill>
                <a:latin typeface="Arial"/>
                <a:ea typeface="Arial"/>
                <a:cs typeface="Arial"/>
              </a:rPr>
              <a:t>The page restores the token.</a:t>
            </a:r>
          </a:p>
          <a:p xmlns:a="http://schemas.openxmlformats.org/drawingml/2006/main">
            <a:r>
              <a:t/>
            </a:r>
          </a:p>
          <a:p xmlns:a="http://schemas.openxmlformats.org/drawingml/2006/main">
            <a:pPr>
              <a:defRPr sz="2175" b="0">
                <a:solidFill>
                  <a:srgbClr val="586A60"/>
                </a:solidFill>
                <a:latin typeface="Arial"/>
                <a:ea typeface="Arial"/>
                <a:cs typeface="Arial"/>
              </a:defRPr>
            </a:pPr>
            <a:r>
              <a:rPr sz="2175" b="0">
                <a:solidFill>
                  <a:srgbClr val="586A60"/>
                </a:solidFill>
                <a:latin typeface="Arial"/>
                <a:ea typeface="Arial"/>
                <a:cs typeface="Arial"/>
              </a:rPr>
              <a:t>It fetches the result again.</a:t>
            </a:r>
          </a:p>
          <a:p xmlns:a="http://schemas.openxmlformats.org/drawingml/2006/main">
            <a:r>
              <a:t/>
            </a:r>
          </a:p>
          <a:p xmlns:a="http://schemas.openxmlformats.org/drawingml/2006/main">
            <a:pPr>
              <a:defRPr sz="2175" b="0">
                <a:solidFill>
                  <a:srgbClr val="586A60"/>
                </a:solidFill>
                <a:latin typeface="Arial"/>
                <a:ea typeface="Arial"/>
                <a:cs typeface="Arial"/>
              </a:defRPr>
            </a:pPr>
            <a:r>
              <a:rPr sz="2175" b="0">
                <a:solidFill>
                  <a:srgbClr val="586A60"/>
                </a:solidFill>
                <a:latin typeface="Arial"/>
                <a:ea typeface="Arial"/>
                <a:cs typeface="Arial"/>
              </a:rPr>
              <a:t>Supabase checks the request again.</a:t>
            </a:r>
          </a:p>
        </p:txBody>
      </p:sp>
      <p:sp>
        <p:nvSpPr>
          <p:cNvPr id="8" name="">
            <a:extLst xmlns:a="http://schemas.openxmlformats.org/drawingml/2006/main">
              <a:ext uri="{FF2B5EF4-FFF2-40B4-BE49-F238E27FC236}">
                <a16:creationId xmlns:a16="http://schemas.microsoft.com/office/drawing/2014/main" id="{9CDA90C3-1DD9-4BF6-A616-F8DF61B5CF62}"/>
              </a:ext>
            </a:extLst>
          </p:cNvPr>
          <p:cNvSpPr>
            <a:spLocks xmlns:a="http://schemas.openxmlformats.org/drawingml/2006/main" noGrp="1"/>
          </p:cNvSpPr>
          <p:nvPr/>
        </p:nvSpPr>
        <p:spPr>
          <a:xfrm xmlns:a="http://schemas.openxmlformats.org/drawingml/2006/main">
            <a:off x="609600" y="56007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86A60"/>
                </a:solidFill>
                <a:latin typeface="Arial"/>
                <a:ea typeface="Arial"/>
                <a:cs typeface="Arial"/>
              </a:defRPr>
            </a:pPr>
            <a:r>
              <a:rPr sz="1800" b="0">
                <a:solidFill>
                  <a:srgbClr val="586A60"/>
                </a:solidFill>
                <a:latin typeface="Arial"/>
                <a:ea typeface="Arial"/>
                <a:cs typeface="Arial"/>
              </a:rPr>
              <a:t>Other designs use cookies, including HttpOnly cookies that page JavaScript cannot read.</a:t>
            </a:r>
          </a:p>
        </p:txBody>
      </p:sp>
    </p:spTree>
    <p:extLst>
      <p:ext uri="{BB962C8B-B14F-4D97-AF65-F5344CB8AC3E}">
        <p14:creationId xmlns:p14="http://schemas.microsoft.com/office/powerpoint/2010/main" val="371031032"/>
      </p:ext>
    </p:extLst>
  </p:cSld>
</p:sld>
</file>

<file path=ppt/slides/slide6.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0C74B1F-81E2-4EDE-8AA8-4B4AAAFBCC76}"/>
              </a:ext>
            </a:extLst>
          </p:cNvPr>
          <p:cNvSpPr>
            <a:spLocks xmlns:a="http://schemas.openxmlformats.org/drawingml/2006/main" noGrp="1"/>
          </p:cNvSpPr>
          <p:nvPr/>
        </p:nvSpPr>
        <p:spPr>
          <a:xfrm xmlns:a="http://schemas.openxmlformats.org/drawingml/2006/main">
            <a:off x="609600" y="42862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C2F"/>
                </a:solidFill>
                <a:latin typeface="Arial"/>
                <a:ea typeface="Arial"/>
                <a:cs typeface="Arial"/>
              </a:defRPr>
            </a:pPr>
            <a:r>
              <a:rPr sz="3450" b="1">
                <a:solidFill>
                  <a:srgbClr val="173C2F"/>
                </a:solidFill>
                <a:latin typeface="Arial"/>
                <a:ea typeface="Arial"/>
                <a:cs typeface="Arial"/>
              </a:rPr>
              <a:t>Inside an access token</a:t>
            </a:r>
          </a:p>
        </p:txBody>
      </p:sp>
      <p:sp>
        <p:nvSpPr>
          <p:cNvPr id="2" name="">
            <a:extLst xmlns:a="http://schemas.openxmlformats.org/drawingml/2006/main">
              <a:ext uri="{FF2B5EF4-FFF2-40B4-BE49-F238E27FC236}">
                <a16:creationId xmlns:a16="http://schemas.microsoft.com/office/drawing/2014/main" id="{B94EAE25-260C-4200-9F0F-16BE6BB7B879}"/>
              </a:ext>
            </a:extLst>
          </p:cNvPr>
          <p:cNvSpPr>
            <a:spLocks xmlns:a="http://schemas.openxmlformats.org/drawingml/2006/main" noGrp="1"/>
          </p:cNvSpPr>
          <p:nvPr/>
        </p:nvSpPr>
        <p:spPr>
          <a:xfrm xmlns:a="http://schemas.openxmlformats.org/drawingml/2006/main">
            <a:off x="111442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A60"/>
                </a:solidFill>
                <a:latin typeface="Arial"/>
                <a:ea typeface="Arial"/>
                <a:cs typeface="Arial"/>
              </a:defRPr>
            </a:pPr>
            <a:r>
              <a:rPr sz="1350" b="0">
                <a:solidFill>
                  <a:srgbClr val="586A60"/>
                </a:solidFill>
                <a:latin typeface="Arial"/>
                <a:ea typeface="Arial"/>
                <a:cs typeface="Arial"/>
              </a:rPr>
              <a:t>06</a:t>
            </a:r>
          </a:p>
        </p:txBody>
      </p:sp>
      <p:graphicFrame>
        <p:nvGraphicFramePr>
          <p:cNvPr id="7" name=""/>
          <p:cNvGraphicFramePr/>
          <p:nvPr/>
        </p:nvGraphicFramePr>
        <p:xfrm>
          <a:off xmlns:a="http://schemas.openxmlformats.org/drawingml/2006/main" x="609600" y="1619250"/>
          <a:ext xmlns:a="http://schemas.openxmlformats.org/drawingml/2006/main" cx="10972800" cy="3333750"/>
        </p:xfrm>
        <a:graphic xmlns:a="http://schemas.openxmlformats.org/drawingml/2006/main">
          <a:graphicData uri="http://schemas.openxmlformats.org/drawingml/2006/table">
            <a:tbl>
              <a:tblPr/>
              <a:tblGrid>
                <a:gridCol w="1905000"/>
                <a:gridCol w="4476750"/>
                <a:gridCol w="4591050"/>
              </a:tblGrid>
              <a:tr h="666750">
                <a:tc>
                  <a:txBody>
                    <a:bodyPr>
                      <a:noAutofit/>
                    </a:bodyPr>
                    <a:lstStyle/>
                    <a:p>
                      <a:r>
                        <a:rPr sz="2025" b="1">
                          <a:solidFill>
                            <a:srgbClr val="FFFFFF"/>
                          </a:solidFill>
                          <a:latin typeface="Arial"/>
                          <a:ea typeface="Arial"/>
                          <a:cs typeface="Arial"/>
                        </a:rPr>
                        <a:t>Claim</a:t>
                      </a:r>
                    </a:p>
                  </a:txBody>
                  <a:tcPr marL="91440" marR="91440" marT="45720" marB="45720">
                    <a:solidFill>
                      <a:srgbClr val="173C2F"/>
                    </a:solidFill>
                  </a:tcPr>
                </a:tc>
                <a:tc>
                  <a:txBody>
                    <a:bodyPr>
                      <a:noAutofit/>
                    </a:bodyPr>
                    <a:lstStyle/>
                    <a:p>
                      <a:r>
                        <a:rPr sz="2025" b="1">
                          <a:solidFill>
                            <a:srgbClr val="FFFFFF"/>
                          </a:solidFill>
                          <a:latin typeface="Arial"/>
                          <a:ea typeface="Arial"/>
                          <a:cs typeface="Arial"/>
                        </a:rPr>
                        <a:t>Meaning</a:t>
                      </a:r>
                    </a:p>
                  </a:txBody>
                  <a:tcPr marL="91440" marR="91440" marT="45720" marB="45720">
                    <a:solidFill>
                      <a:srgbClr val="173C2F"/>
                    </a:solidFill>
                  </a:tcPr>
                </a:tc>
                <a:tc>
                  <a:txBody>
                    <a:bodyPr>
                      <a:noAutofit/>
                    </a:bodyPr>
                    <a:lstStyle/>
                    <a:p>
                      <a:r>
                        <a:rPr sz="2025" b="1">
                          <a:solidFill>
                            <a:srgbClr val="FFFFFF"/>
                          </a:solidFill>
                          <a:latin typeface="Arial"/>
                          <a:ea typeface="Arial"/>
                          <a:cs typeface="Arial"/>
                        </a:rPr>
                        <a:t>Illustrative value</a:t>
                      </a:r>
                    </a:p>
                  </a:txBody>
                  <a:tcPr marL="91440" marR="91440" marT="45720" marB="45720">
                    <a:solidFill>
                      <a:srgbClr val="173C2F"/>
                    </a:solidFill>
                  </a:tcPr>
                </a:tc>
              </a:tr>
              <a:tr h="666750">
                <a:tc>
                  <a:txBody>
                    <a:bodyPr>
                      <a:noAutofit/>
                    </a:bodyPr>
                    <a:lstStyle/>
                    <a:p>
                      <a:r>
                        <a:rPr sz="2025" b="0">
                          <a:solidFill>
                            <a:srgbClr val="173C2F"/>
                          </a:solidFill>
                          <a:latin typeface="Arial"/>
                          <a:ea typeface="Arial"/>
                          <a:cs typeface="Arial"/>
                        </a:rPr>
                        <a:t>sub</a:t>
                      </a:r>
                    </a:p>
                  </a:txBody>
                  <a:tcPr marL="91440" marR="91440" marT="45720" marB="45720">
                    <a:solidFill>
                      <a:srgbClr val="FFFFFF"/>
                    </a:solidFill>
                  </a:tcPr>
                </a:tc>
                <a:tc>
                  <a:txBody>
                    <a:bodyPr>
                      <a:noAutofit/>
                    </a:bodyPr>
                    <a:lstStyle/>
                    <a:p>
                      <a:r>
                        <a:rPr sz="2025" b="0">
                          <a:solidFill>
                            <a:srgbClr val="173C2F"/>
                          </a:solidFill>
                          <a:latin typeface="Arial"/>
                          <a:ea typeface="Arial"/>
                          <a:cs typeface="Arial"/>
                        </a:rPr>
                        <a:t>User identifier</a:t>
                      </a:r>
                    </a:p>
                  </a:txBody>
                  <a:tcPr marL="91440" marR="91440" marT="45720" marB="45720">
                    <a:solidFill>
                      <a:srgbClr val="FFFFFF"/>
                    </a:solidFill>
                  </a:tcPr>
                </a:tc>
                <a:tc>
                  <a:txBody>
                    <a:bodyPr>
                      <a:noAutofit/>
                    </a:bodyPr>
                    <a:lstStyle/>
                    <a:p>
                      <a:r>
                        <a:rPr sz="2025" b="0">
                          <a:solidFill>
                            <a:srgbClr val="173C2F"/>
                          </a:solidFill>
                          <a:latin typeface="Arial"/>
                          <a:ea typeface="Arial"/>
                          <a:cs typeface="Arial"/>
                        </a:rPr>
                        <a:t>Alice’s user UUID</a:t>
                      </a:r>
                    </a:p>
                  </a:txBody>
                  <a:tcPr marL="91440" marR="91440" marT="45720" marB="45720">
                    <a:solidFill>
                      <a:srgbClr val="FFFFFF"/>
                    </a:solidFill>
                  </a:tcPr>
                </a:tc>
              </a:tr>
              <a:tr h="666750">
                <a:tc>
                  <a:txBody>
                    <a:bodyPr>
                      <a:noAutofit/>
                    </a:bodyPr>
                    <a:lstStyle/>
                    <a:p>
                      <a:r>
                        <a:rPr sz="2025" b="0">
                          <a:solidFill>
                            <a:srgbClr val="173C2F"/>
                          </a:solidFill>
                          <a:latin typeface="Arial"/>
                          <a:ea typeface="Arial"/>
                          <a:cs typeface="Arial"/>
                        </a:rPr>
                        <a:t>email</a:t>
                      </a:r>
                    </a:p>
                  </a:txBody>
                  <a:tcPr marL="91440" marR="91440" marT="45720" marB="45720">
                    <a:solidFill>
                      <a:srgbClr val="EDF1EA"/>
                    </a:solidFill>
                  </a:tcPr>
                </a:tc>
                <a:tc>
                  <a:txBody>
                    <a:bodyPr>
                      <a:noAutofit/>
                    </a:bodyPr>
                    <a:lstStyle/>
                    <a:p>
                      <a:r>
                        <a:rPr sz="2025" b="0">
                          <a:solidFill>
                            <a:srgbClr val="173C2F"/>
                          </a:solidFill>
                          <a:latin typeface="Arial"/>
                          <a:ea typeface="Arial"/>
                          <a:cs typeface="Arial"/>
                        </a:rPr>
                        <a:t>Account email</a:t>
                      </a:r>
                    </a:p>
                  </a:txBody>
                  <a:tcPr marL="91440" marR="91440" marT="45720" marB="45720">
                    <a:solidFill>
                      <a:srgbClr val="EDF1EA"/>
                    </a:solidFill>
                  </a:tcPr>
                </a:tc>
                <a:tc>
                  <a:txBody>
                    <a:bodyPr>
                      <a:noAutofit/>
                    </a:bodyPr>
                    <a:lstStyle/>
                    <a:p>
                      <a:r>
                        <a:rPr sz="2025" b="0">
                          <a:solidFill>
                            <a:srgbClr val="173C2F"/>
                          </a:solidFill>
                          <a:latin typeface="Arial"/>
                          <a:ea typeface="Arial"/>
                          <a:cs typeface="Arial"/>
                        </a:rPr>
                        <a:t>alice@test.invalid</a:t>
                      </a:r>
                    </a:p>
                  </a:txBody>
                  <a:tcPr marL="91440" marR="91440" marT="45720" marB="45720">
                    <a:solidFill>
                      <a:srgbClr val="EDF1EA"/>
                    </a:solidFill>
                  </a:tcPr>
                </a:tc>
              </a:tr>
              <a:tr h="666750">
                <a:tc>
                  <a:txBody>
                    <a:bodyPr>
                      <a:noAutofit/>
                    </a:bodyPr>
                    <a:lstStyle/>
                    <a:p>
                      <a:r>
                        <a:rPr sz="2025" b="0">
                          <a:solidFill>
                            <a:srgbClr val="173C2F"/>
                          </a:solidFill>
                          <a:latin typeface="Arial"/>
                          <a:ea typeface="Arial"/>
                          <a:cs typeface="Arial"/>
                        </a:rPr>
                        <a:t>role</a:t>
                      </a:r>
                    </a:p>
                  </a:txBody>
                  <a:tcPr marL="91440" marR="91440" marT="45720" marB="45720">
                    <a:solidFill>
                      <a:srgbClr val="FFFFFF"/>
                    </a:solidFill>
                  </a:tcPr>
                </a:tc>
                <a:tc>
                  <a:txBody>
                    <a:bodyPr>
                      <a:noAutofit/>
                    </a:bodyPr>
                    <a:lstStyle/>
                    <a:p>
                      <a:r>
                        <a:rPr sz="2025" b="0">
                          <a:solidFill>
                            <a:srgbClr val="173C2F"/>
                          </a:solidFill>
                          <a:latin typeface="Arial"/>
                          <a:ea typeface="Arial"/>
                          <a:cs typeface="Arial"/>
                        </a:rPr>
                        <a:t>Database role</a:t>
                      </a:r>
                    </a:p>
                  </a:txBody>
                  <a:tcPr marL="91440" marR="91440" marT="45720" marB="45720">
                    <a:solidFill>
                      <a:srgbClr val="FFFFFF"/>
                    </a:solidFill>
                  </a:tcPr>
                </a:tc>
                <a:tc>
                  <a:txBody>
                    <a:bodyPr>
                      <a:noAutofit/>
                    </a:bodyPr>
                    <a:lstStyle/>
                    <a:p>
                      <a:r>
                        <a:rPr sz="2025" b="0">
                          <a:solidFill>
                            <a:srgbClr val="173C2F"/>
                          </a:solidFill>
                          <a:latin typeface="Arial"/>
                          <a:ea typeface="Arial"/>
                          <a:cs typeface="Arial"/>
                        </a:rPr>
                        <a:t>authenticated</a:t>
                      </a:r>
                    </a:p>
                  </a:txBody>
                  <a:tcPr marL="91440" marR="91440" marT="45720" marB="45720">
                    <a:solidFill>
                      <a:srgbClr val="FFFFFF"/>
                    </a:solidFill>
                  </a:tcPr>
                </a:tc>
              </a:tr>
              <a:tr h="666750">
                <a:tc>
                  <a:txBody>
                    <a:bodyPr>
                      <a:noAutofit/>
                    </a:bodyPr>
                    <a:lstStyle/>
                    <a:p>
                      <a:r>
                        <a:rPr sz="2025" b="0">
                          <a:solidFill>
                            <a:srgbClr val="173C2F"/>
                          </a:solidFill>
                          <a:latin typeface="Arial"/>
                          <a:ea typeface="Arial"/>
                          <a:cs typeface="Arial"/>
                        </a:rPr>
                        <a:t>exp</a:t>
                      </a:r>
                    </a:p>
                  </a:txBody>
                  <a:tcPr marL="91440" marR="91440" marT="45720" marB="45720">
                    <a:solidFill>
                      <a:srgbClr val="EDF1EA"/>
                    </a:solidFill>
                  </a:tcPr>
                </a:tc>
                <a:tc>
                  <a:txBody>
                    <a:bodyPr>
                      <a:noAutofit/>
                    </a:bodyPr>
                    <a:lstStyle/>
                    <a:p>
                      <a:r>
                        <a:rPr sz="2025" b="0">
                          <a:solidFill>
                            <a:srgbClr val="173C2F"/>
                          </a:solidFill>
                          <a:latin typeface="Arial"/>
                          <a:ea typeface="Arial"/>
                          <a:cs typeface="Arial"/>
                        </a:rPr>
                        <a:t>Expiry time</a:t>
                      </a:r>
                    </a:p>
                  </a:txBody>
                  <a:tcPr marL="91440" marR="91440" marT="45720" marB="45720">
                    <a:solidFill>
                      <a:srgbClr val="EDF1EA"/>
                    </a:solidFill>
                  </a:tcPr>
                </a:tc>
                <a:tc>
                  <a:txBody>
                    <a:bodyPr>
                      <a:noAutofit/>
                    </a:bodyPr>
                    <a:lstStyle/>
                    <a:p>
                      <a:r>
                        <a:rPr sz="2025" b="0">
                          <a:solidFill>
                            <a:srgbClr val="173C2F"/>
                          </a:solidFill>
                          <a:latin typeface="Arial"/>
                          <a:ea typeface="Arial"/>
                          <a:cs typeface="Arial"/>
                        </a:rPr>
                        <a:t>Unix timestamp</a:t>
                      </a:r>
                    </a:p>
                  </a:txBody>
                  <a:tcPr marL="91440" marR="91440" marT="45720" marB="45720">
                    <a:solidFill>
                      <a:srgbClr val="EDF1EA"/>
                    </a:solidFill>
                  </a:tcPr>
                </a:tc>
              </a:tr>
            </a:tbl>
          </a:graphicData>
        </a:graphic>
      </p:graphicFrame>
      <p:sp>
        <p:nvSpPr>
          <p:cNvPr id="4" name="">
            <a:extLst xmlns:a="http://schemas.openxmlformats.org/drawingml/2006/main">
              <a:ext uri="{FF2B5EF4-FFF2-40B4-BE49-F238E27FC236}">
                <a16:creationId xmlns:a16="http://schemas.microsoft.com/office/drawing/2014/main" id="{B87710BE-9B00-405B-AFF1-8715676E5EBD}"/>
              </a:ext>
            </a:extLst>
          </p:cNvPr>
          <p:cNvSpPr>
            <a:spLocks xmlns:a="http://schemas.openxmlformats.org/drawingml/2006/main" noGrp="1"/>
          </p:cNvSpPr>
          <p:nvPr/>
        </p:nvSpPr>
        <p:spPr>
          <a:xfrm xmlns:a="http://schemas.openxmlformats.org/drawingml/2006/main">
            <a:off x="609600" y="53816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C2F"/>
                </a:solidFill>
                <a:latin typeface="Arial"/>
                <a:ea typeface="Arial"/>
                <a:cs typeface="Arial"/>
              </a:defRPr>
            </a:pPr>
            <a:r>
              <a:rPr sz="2325" b="1">
                <a:solidFill>
                  <a:srgbClr val="173C2F"/>
                </a:solidFill>
                <a:latin typeface="Arial"/>
                <a:ea typeface="Arial"/>
                <a:cs typeface="Arial"/>
              </a:rPr>
              <a:t>Decoding reads the claims. Supabase verifies the signature and validity.</a:t>
            </a:r>
          </a:p>
        </p:txBody>
      </p:sp>
    </p:spTree>
    <p:extLst>
      <p:ext uri="{BB962C8B-B14F-4D97-AF65-F5344CB8AC3E}">
        <p14:creationId xmlns:p14="http://schemas.microsoft.com/office/powerpoint/2010/main" val="1225486223"/>
      </p:ext>
    </p:extLst>
  </p:cSld>
</p:sld>
</file>

<file path=ppt/slides/slide7.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9ADEBC3-B10D-4496-9E58-0A994A74D0C3}"/>
              </a:ext>
            </a:extLst>
          </p:cNvPr>
          <p:cNvSpPr>
            <a:spLocks xmlns:a="http://schemas.openxmlformats.org/drawingml/2006/main" noGrp="1"/>
          </p:cNvSpPr>
          <p:nvPr/>
        </p:nvSpPr>
        <p:spPr>
          <a:xfrm xmlns:a="http://schemas.openxmlformats.org/drawingml/2006/main">
            <a:off x="609600" y="42862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C2F"/>
                </a:solidFill>
                <a:latin typeface="Arial"/>
                <a:ea typeface="Arial"/>
                <a:cs typeface="Arial"/>
              </a:defRPr>
            </a:pPr>
            <a:r>
              <a:rPr sz="3450" b="1">
                <a:solidFill>
                  <a:srgbClr val="173C2F"/>
                </a:solidFill>
                <a:latin typeface="Arial"/>
                <a:ea typeface="Arial"/>
                <a:cs typeface="Arial"/>
              </a:rPr>
              <a:t>Authentication and permission</a:t>
            </a:r>
          </a:p>
        </p:txBody>
      </p:sp>
      <p:sp>
        <p:nvSpPr>
          <p:cNvPr id="2" name="">
            <a:extLst xmlns:a="http://schemas.openxmlformats.org/drawingml/2006/main">
              <a:ext uri="{FF2B5EF4-FFF2-40B4-BE49-F238E27FC236}">
                <a16:creationId xmlns:a16="http://schemas.microsoft.com/office/drawing/2014/main" id="{49346A79-5B52-472F-9A96-E2876785734A}"/>
              </a:ext>
            </a:extLst>
          </p:cNvPr>
          <p:cNvSpPr>
            <a:spLocks xmlns:a="http://schemas.openxmlformats.org/drawingml/2006/main" noGrp="1"/>
          </p:cNvSpPr>
          <p:nvPr/>
        </p:nvSpPr>
        <p:spPr>
          <a:xfrm xmlns:a="http://schemas.openxmlformats.org/drawingml/2006/main">
            <a:off x="111442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A60"/>
                </a:solidFill>
                <a:latin typeface="Arial"/>
                <a:ea typeface="Arial"/>
                <a:cs typeface="Arial"/>
              </a:defRPr>
            </a:pPr>
            <a:r>
              <a:rPr sz="1350" b="0">
                <a:solidFill>
                  <a:srgbClr val="586A60"/>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C757DBBD-D6E3-476A-A50F-9F654AF249F6}"/>
              </a:ext>
            </a:extLst>
          </p:cNvPr>
          <p:cNvSpPr>
            <a:spLocks xmlns:a="http://schemas.openxmlformats.org/drawingml/2006/main" noGrp="1"/>
          </p:cNvSpPr>
          <p:nvPr/>
        </p:nvSpPr>
        <p:spPr>
          <a:xfrm xmlns:a="http://schemas.openxmlformats.org/drawingml/2006/main">
            <a:off x="609600" y="14287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86A60"/>
                </a:solidFill>
                <a:latin typeface="Arial"/>
                <a:ea typeface="Arial"/>
                <a:cs typeface="Arial"/>
              </a:defRPr>
            </a:pPr>
            <a:r>
              <a:rPr sz="2100" b="0">
                <a:solidFill>
                  <a:srgbClr val="586A60"/>
                </a:solidFill>
                <a:latin typeface="Arial"/>
                <a:ea typeface="Arial"/>
                <a:cs typeface="Arial"/>
              </a:rPr>
              <a:t>Authentication identifies the user. Authorization limits what that user can do.</a:t>
            </a:r>
          </a:p>
        </p:txBody>
      </p:sp>
      <p:graphicFrame>
        <p:nvGraphicFramePr>
          <p:cNvPr id="9" name=""/>
          <p:cNvGraphicFramePr/>
          <p:nvPr/>
        </p:nvGraphicFramePr>
        <p:xfrm>
          <a:off xmlns:a="http://schemas.openxmlformats.org/drawingml/2006/main" x="609600" y="2524125"/>
          <a:ext xmlns:a="http://schemas.openxmlformats.org/drawingml/2006/main" cx="10972800" cy="2714625"/>
        </p:xfrm>
        <a:graphic xmlns:a="http://schemas.openxmlformats.org/drawingml/2006/main">
          <a:graphicData uri="http://schemas.openxmlformats.org/drawingml/2006/table">
            <a:tbl>
              <a:tblPr/>
              <a:tblGrid>
                <a:gridCol w="4191000"/>
                <a:gridCol w="3381375"/>
                <a:gridCol w="3400425"/>
              </a:tblGrid>
              <a:tr h="678656">
                <a:tc>
                  <a:txBody>
                    <a:bodyPr>
                      <a:noAutofit/>
                    </a:bodyPr>
                    <a:lstStyle/>
                    <a:p>
                      <a:r>
                        <a:rPr sz="1950" b="1">
                          <a:solidFill>
                            <a:srgbClr val="FFFFFF"/>
                          </a:solidFill>
                          <a:latin typeface="Arial"/>
                          <a:ea typeface="Arial"/>
                          <a:cs typeface="Arial"/>
                        </a:rPr>
                        <a:t>Request</a:t>
                      </a:r>
                    </a:p>
                  </a:txBody>
                  <a:tcPr marL="91440" marR="91440" marT="45720" marB="45720">
                    <a:solidFill>
                      <a:srgbClr val="173C2F"/>
                    </a:solidFill>
                  </a:tcPr>
                </a:tc>
                <a:tc>
                  <a:txBody>
                    <a:bodyPr>
                      <a:noAutofit/>
                    </a:bodyPr>
                    <a:lstStyle/>
                    <a:p>
                      <a:r>
                        <a:rPr sz="1950" b="1">
                          <a:solidFill>
                            <a:srgbClr val="FFFFFF"/>
                          </a:solidFill>
                          <a:latin typeface="Arial"/>
                          <a:ea typeface="Arial"/>
                          <a:cs typeface="Arial"/>
                        </a:rPr>
                        <a:t>Token</a:t>
                      </a:r>
                    </a:p>
                  </a:txBody>
                  <a:tcPr marL="91440" marR="91440" marT="45720" marB="45720">
                    <a:solidFill>
                      <a:srgbClr val="173C2F"/>
                    </a:solidFill>
                  </a:tcPr>
                </a:tc>
                <a:tc>
                  <a:txBody>
                    <a:bodyPr>
                      <a:noAutofit/>
                    </a:bodyPr>
                    <a:lstStyle/>
                    <a:p>
                      <a:r>
                        <a:rPr sz="1950" b="1">
                          <a:solidFill>
                            <a:srgbClr val="FFFFFF"/>
                          </a:solidFill>
                          <a:latin typeface="Arial"/>
                          <a:ea typeface="Arial"/>
                          <a:cs typeface="Arial"/>
                        </a:rPr>
                        <a:t>Result in this app</a:t>
                      </a:r>
                    </a:p>
                  </a:txBody>
                  <a:tcPr marL="91440" marR="91440" marT="45720" marB="45720">
                    <a:solidFill>
                      <a:srgbClr val="173C2F"/>
                    </a:solidFill>
                  </a:tcPr>
                </a:tc>
              </a:tr>
              <a:tr h="678656">
                <a:tc>
                  <a:txBody>
                    <a:bodyPr>
                      <a:noAutofit/>
                    </a:bodyPr>
                    <a:lstStyle/>
                    <a:p>
                      <a:r>
                        <a:rPr sz="1950" b="0">
                          <a:solidFill>
                            <a:srgbClr val="173C2F"/>
                          </a:solidFill>
                          <a:latin typeface="Arial"/>
                          <a:ea typeface="Arial"/>
                          <a:cs typeface="Arial"/>
                        </a:rPr>
                        <a:t>Read Alice’s result</a:t>
                      </a:r>
                    </a:p>
                  </a:txBody>
                  <a:tcPr marL="91440" marR="91440" marT="45720" marB="45720">
                    <a:solidFill>
                      <a:srgbClr val="FFFFFF"/>
                    </a:solidFill>
                  </a:tcPr>
                </a:tc>
                <a:tc>
                  <a:txBody>
                    <a:bodyPr>
                      <a:noAutofit/>
                    </a:bodyPr>
                    <a:lstStyle/>
                    <a:p>
                      <a:r>
                        <a:rPr sz="1950" b="0">
                          <a:solidFill>
                            <a:srgbClr val="173C2F"/>
                          </a:solidFill>
                          <a:latin typeface="Arial"/>
                          <a:ea typeface="Arial"/>
                          <a:cs typeface="Arial"/>
                        </a:rPr>
                        <a:t>No bearer token</a:t>
                      </a:r>
                    </a:p>
                  </a:txBody>
                  <a:tcPr marL="91440" marR="91440" marT="45720" marB="45720">
                    <a:solidFill>
                      <a:srgbClr val="FFFFFF"/>
                    </a:solidFill>
                  </a:tcPr>
                </a:tc>
                <a:tc>
                  <a:txBody>
                    <a:bodyPr>
                      <a:noAutofit/>
                    </a:bodyPr>
                    <a:lstStyle/>
                    <a:p>
                      <a:r>
                        <a:rPr sz="1950" b="0">
                          <a:solidFill>
                            <a:srgbClr val="173C2F"/>
                          </a:solidFill>
                          <a:latin typeface="Arial"/>
                          <a:ea typeface="Arial"/>
                          <a:cs typeface="Arial"/>
                        </a:rPr>
                        <a:t>401: sign in required</a:t>
                      </a:r>
                    </a:p>
                  </a:txBody>
                  <a:tcPr marL="91440" marR="91440" marT="45720" marB="45720">
                    <a:solidFill>
                      <a:srgbClr val="FFFFFF"/>
                    </a:solidFill>
                  </a:tcPr>
                </a:tc>
              </a:tr>
              <a:tr h="678656">
                <a:tc>
                  <a:txBody>
                    <a:bodyPr>
                      <a:noAutofit/>
                    </a:bodyPr>
                    <a:lstStyle/>
                    <a:p>
                      <a:r>
                        <a:rPr sz="1950" b="0">
                          <a:solidFill>
                            <a:srgbClr val="173C2F"/>
                          </a:solidFill>
                          <a:latin typeface="Arial"/>
                          <a:ea typeface="Arial"/>
                          <a:cs typeface="Arial"/>
                        </a:rPr>
                        <a:t>Read Alice’s result</a:t>
                      </a:r>
                    </a:p>
                  </a:txBody>
                  <a:tcPr marL="91440" marR="91440" marT="45720" marB="45720">
                    <a:solidFill>
                      <a:srgbClr val="EDF1EA"/>
                    </a:solidFill>
                  </a:tcPr>
                </a:tc>
                <a:tc>
                  <a:txBody>
                    <a:bodyPr>
                      <a:noAutofit/>
                    </a:bodyPr>
                    <a:lstStyle/>
                    <a:p>
                      <a:r>
                        <a:rPr sz="1950" b="0">
                          <a:solidFill>
                            <a:srgbClr val="173C2F"/>
                          </a:solidFill>
                          <a:latin typeface="Arial"/>
                          <a:ea typeface="Arial"/>
                          <a:cs typeface="Arial"/>
                        </a:rPr>
                        <a:t>Alice’s valid token</a:t>
                      </a:r>
                    </a:p>
                  </a:txBody>
                  <a:tcPr marL="91440" marR="91440" marT="45720" marB="45720">
                    <a:solidFill>
                      <a:srgbClr val="EDF1EA"/>
                    </a:solidFill>
                  </a:tcPr>
                </a:tc>
                <a:tc>
                  <a:txBody>
                    <a:bodyPr>
                      <a:noAutofit/>
                    </a:bodyPr>
                    <a:lstStyle/>
                    <a:p>
                      <a:r>
                        <a:rPr sz="1950" b="0">
                          <a:solidFill>
                            <a:srgbClr val="173C2F"/>
                          </a:solidFill>
                          <a:latin typeface="Arial"/>
                          <a:ea typeface="Arial"/>
                          <a:cs typeface="Arial"/>
                        </a:rPr>
                        <a:t>200: Alice’s result</a:t>
                      </a:r>
                    </a:p>
                  </a:txBody>
                  <a:tcPr marL="91440" marR="91440" marT="45720" marB="45720">
                    <a:solidFill>
                      <a:srgbClr val="EDF1EA"/>
                    </a:solidFill>
                  </a:tcPr>
                </a:tc>
              </a:tr>
              <a:tr h="678656">
                <a:tc>
                  <a:txBody>
                    <a:bodyPr>
                      <a:noAutofit/>
                    </a:bodyPr>
                    <a:lstStyle/>
                    <a:p>
                      <a:r>
                        <a:rPr sz="1950" b="0">
                          <a:solidFill>
                            <a:srgbClr val="173C2F"/>
                          </a:solidFill>
                          <a:latin typeface="Arial"/>
                          <a:ea typeface="Arial"/>
                          <a:cs typeface="Arial"/>
                        </a:rPr>
                        <a:t>Read Bob’s result</a:t>
                      </a:r>
                    </a:p>
                  </a:txBody>
                  <a:tcPr marL="91440" marR="91440" marT="45720" marB="45720">
                    <a:solidFill>
                      <a:srgbClr val="FFFFFF"/>
                    </a:solidFill>
                  </a:tcPr>
                </a:tc>
                <a:tc>
                  <a:txBody>
                    <a:bodyPr>
                      <a:noAutofit/>
                    </a:bodyPr>
                    <a:lstStyle/>
                    <a:p>
                      <a:r>
                        <a:rPr sz="1950" b="0">
                          <a:solidFill>
                            <a:srgbClr val="173C2F"/>
                          </a:solidFill>
                          <a:latin typeface="Arial"/>
                          <a:ea typeface="Arial"/>
                          <a:cs typeface="Arial"/>
                        </a:rPr>
                        <a:t>Alice’s valid token</a:t>
                      </a:r>
                    </a:p>
                  </a:txBody>
                  <a:tcPr marL="91440" marR="91440" marT="45720" marB="45720">
                    <a:solidFill>
                      <a:srgbClr val="FFFFFF"/>
                    </a:solidFill>
                  </a:tcPr>
                </a:tc>
                <a:tc>
                  <a:txBody>
                    <a:bodyPr>
                      <a:noAutofit/>
                    </a:bodyPr>
                    <a:lstStyle/>
                    <a:p>
                      <a:r>
                        <a:rPr sz="1950" b="0">
                          <a:solidFill>
                            <a:srgbClr val="173C2F"/>
                          </a:solidFill>
                          <a:latin typeface="Arial"/>
                          <a:ea typeface="Arial"/>
                          <a:cs typeface="Arial"/>
                        </a:rPr>
                        <a:t>403: access refused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B8C896D-F2F9-4D75-9C3A-36559DB63561}"/>
              </a:ext>
            </a:extLst>
          </p:cNvPr>
          <p:cNvSpPr>
            <a:spLocks xmlns:a="http://schemas.openxmlformats.org/drawingml/2006/main" noGrp="1"/>
          </p:cNvSpPr>
          <p:nvPr/>
        </p:nvSpPr>
        <p:spPr>
          <a:xfrm xmlns:a="http://schemas.openxmlformats.org/drawingml/2006/main">
            <a:off x="609600" y="56197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C2F"/>
                </a:solidFill>
                <a:latin typeface="Arial"/>
                <a:ea typeface="Arial"/>
                <a:cs typeface="Arial"/>
              </a:defRPr>
            </a:pPr>
            <a:r>
              <a:rPr sz="2100" b="1">
                <a:solidFill>
                  <a:srgbClr val="173C2F"/>
                </a:solidFill>
                <a:latin typeface="Arial"/>
                <a:ea typeface="Arial"/>
                <a:cs typeface="Arial"/>
              </a:rPr>
              <a:t>Row-level security also protects direct table queries.</a:t>
            </a:r>
          </a:p>
        </p:txBody>
      </p:sp>
    </p:spTree>
    <p:extLst>
      <p:ext uri="{BB962C8B-B14F-4D97-AF65-F5344CB8AC3E}">
        <p14:creationId xmlns:p14="http://schemas.microsoft.com/office/powerpoint/2010/main" val="662711792"/>
      </p:ext>
    </p:extLst>
  </p:cSld>
</p:sld>
</file>

<file path=ppt/slides/slide8.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0EA1A6B-1D69-4C23-9621-9C9F168CA987}"/>
              </a:ext>
            </a:extLst>
          </p:cNvPr>
          <p:cNvSpPr>
            <a:spLocks xmlns:a="http://schemas.openxmlformats.org/drawingml/2006/main" noGrp="1"/>
          </p:cNvSpPr>
          <p:nvPr/>
        </p:nvSpPr>
        <p:spPr>
          <a:xfrm xmlns:a="http://schemas.openxmlformats.org/drawingml/2006/main">
            <a:off x="609600" y="42862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C2F"/>
                </a:solidFill>
                <a:latin typeface="Arial"/>
                <a:ea typeface="Arial"/>
                <a:cs typeface="Arial"/>
              </a:defRPr>
            </a:pPr>
            <a:r>
              <a:rPr sz="3450" b="1">
                <a:solidFill>
                  <a:srgbClr val="173C2F"/>
                </a:solidFill>
                <a:latin typeface="Arial"/>
                <a:ea typeface="Arial"/>
                <a:cs typeface="Arial"/>
              </a:rPr>
              <a:t>A copied token can submit as Alice</a:t>
            </a:r>
          </a:p>
        </p:txBody>
      </p:sp>
      <p:sp>
        <p:nvSpPr>
          <p:cNvPr id="2" name="">
            <a:extLst xmlns:a="http://schemas.openxmlformats.org/drawingml/2006/main">
              <a:ext uri="{FF2B5EF4-FFF2-40B4-BE49-F238E27FC236}">
                <a16:creationId xmlns:a16="http://schemas.microsoft.com/office/drawing/2014/main" id="{0B67D77A-3517-4BEF-8DBF-A6E33397D566}"/>
              </a:ext>
            </a:extLst>
          </p:cNvPr>
          <p:cNvSpPr>
            <a:spLocks xmlns:a="http://schemas.openxmlformats.org/drawingml/2006/main" noGrp="1"/>
          </p:cNvSpPr>
          <p:nvPr/>
        </p:nvSpPr>
        <p:spPr>
          <a:xfrm xmlns:a="http://schemas.openxmlformats.org/drawingml/2006/main">
            <a:off x="111442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A60"/>
                </a:solidFill>
                <a:latin typeface="Arial"/>
                <a:ea typeface="Arial"/>
                <a:cs typeface="Arial"/>
              </a:defRPr>
            </a:pPr>
            <a:r>
              <a:rPr sz="1350" b="0">
                <a:solidFill>
                  <a:srgbClr val="586A60"/>
                </a:solidFill>
                <a:latin typeface="Arial"/>
                <a:ea typeface="Arial"/>
                <a:cs typeface="Arial"/>
              </a:rPr>
              <a:t>08</a:t>
            </a:r>
          </a:p>
        </p:txBody>
      </p:sp>
      <p:graphicFrame>
        <p:nvGraphicFramePr>
          <p:cNvPr id="7" name=""/>
          <p:cNvGraphicFramePr/>
          <p:nvPr/>
        </p:nvGraphicFramePr>
        <p:xfrm>
          <a:off xmlns:a="http://schemas.openxmlformats.org/drawingml/2006/main" x="609600" y="1857375"/>
          <a:ext xmlns:a="http://schemas.openxmlformats.org/drawingml/2006/main" cx="10972800" cy="2857500"/>
        </p:xfrm>
        <a:graphic xmlns:a="http://schemas.openxmlformats.org/drawingml/2006/main">
          <a:graphicData uri="http://schemas.openxmlformats.org/drawingml/2006/table">
            <a:tbl>
              <a:tblPr/>
              <a:tblGrid>
                <a:gridCol w="4572000"/>
                <a:gridCol w="6400800"/>
              </a:tblGrid>
              <a:tr h="714375">
                <a:tc>
                  <a:txBody>
                    <a:bodyPr>
                      <a:noAutofit/>
                    </a:bodyPr>
                    <a:lstStyle/>
                    <a:p>
                      <a:r>
                        <a:rPr sz="2025" b="1">
                          <a:solidFill>
                            <a:srgbClr val="FFFFFF"/>
                          </a:solidFill>
                          <a:latin typeface="Arial"/>
                          <a:ea typeface="Arial"/>
                          <a:cs typeface="Arial"/>
                        </a:rPr>
                        <a:t>What the audience sees</a:t>
                      </a:r>
                    </a:p>
                  </a:txBody>
                  <a:tcPr marL="91440" marR="91440" marT="45720" marB="45720">
                    <a:solidFill>
                      <a:srgbClr val="173C2F"/>
                    </a:solidFill>
                  </a:tcPr>
                </a:tc>
                <a:tc>
                  <a:txBody>
                    <a:bodyPr>
                      <a:noAutofit/>
                    </a:bodyPr>
                    <a:lstStyle/>
                    <a:p>
                      <a:r>
                        <a:rPr sz="2025" b="1">
                          <a:solidFill>
                            <a:srgbClr val="FFFFFF"/>
                          </a:solidFill>
                          <a:latin typeface="Arial"/>
                          <a:ea typeface="Arial"/>
                          <a:cs typeface="Arial"/>
                        </a:rPr>
                        <a:t>What the server uses</a:t>
                      </a:r>
                    </a:p>
                  </a:txBody>
                  <a:tcPr marL="91440" marR="91440" marT="45720" marB="45720">
                    <a:solidFill>
                      <a:srgbClr val="173C2F"/>
                    </a:solidFill>
                  </a:tcPr>
                </a:tc>
              </a:tr>
              <a:tr h="714375">
                <a:tc>
                  <a:txBody>
                    <a:bodyPr>
                      <a:noAutofit/>
                    </a:bodyPr>
                    <a:lstStyle/>
                    <a:p>
                      <a:r>
                        <a:rPr sz="2025" b="0">
                          <a:solidFill>
                            <a:srgbClr val="173C2F"/>
                          </a:solidFill>
                          <a:latin typeface="Arial"/>
                          <a:ea typeface="Arial"/>
                          <a:cs typeface="Arial"/>
                        </a:rPr>
                        <a:t>Portal signed in as Bob</a:t>
                      </a:r>
                    </a:p>
                  </a:txBody>
                  <a:tcPr marL="91440" marR="91440" marT="45720" marB="45720">
                    <a:solidFill>
                      <a:srgbClr val="FFFFFF"/>
                    </a:solidFill>
                  </a:tcPr>
                </a:tc>
                <a:tc>
                  <a:txBody>
                    <a:bodyPr>
                      <a:noAutofit/>
                    </a:bodyPr>
                    <a:lstStyle/>
                    <a:p>
                      <a:r>
                        <a:rPr sz="2025" b="0">
                          <a:solidFill>
                            <a:srgbClr val="173C2F"/>
                          </a:solidFill>
                          <a:latin typeface="Arial"/>
                          <a:ea typeface="Arial"/>
                          <a:cs typeface="Arial"/>
                        </a:rPr>
                        <a:t>Bearer token in the Swagger request: Alice</a:t>
                      </a:r>
                    </a:p>
                  </a:txBody>
                  <a:tcPr marL="91440" marR="91440" marT="45720" marB="45720">
                    <a:solidFill>
                      <a:srgbClr val="FFFFFF"/>
                    </a:solidFill>
                  </a:tcPr>
                </a:tc>
              </a:tr>
              <a:tr h="714375">
                <a:tc>
                  <a:txBody>
                    <a:bodyPr>
                      <a:noAutofit/>
                    </a:bodyPr>
                    <a:lstStyle/>
                    <a:p>
                      <a:r>
                        <a:rPr sz="2025" b="0">
                          <a:solidFill>
                            <a:srgbClr val="173C2F"/>
                          </a:solidFill>
                          <a:latin typeface="Arial"/>
                          <a:ea typeface="Arial"/>
                          <a:cs typeface="Arial"/>
                        </a:rPr>
                        <a:t>Swagger submits [1,1,1]</a:t>
                      </a:r>
                    </a:p>
                  </a:txBody>
                  <a:tcPr marL="91440" marR="91440" marT="45720" marB="45720">
                    <a:solidFill>
                      <a:srgbClr val="EDF1EA"/>
                    </a:solidFill>
                  </a:tcPr>
                </a:tc>
                <a:tc>
                  <a:txBody>
                    <a:bodyPr>
                      <a:noAutofit/>
                    </a:bodyPr>
                    <a:lstStyle/>
                    <a:p>
                      <a:r>
                        <a:rPr sz="2025" b="0">
                          <a:solidFill>
                            <a:srgbClr val="173C2F"/>
                          </a:solidFill>
                          <a:latin typeface="Arial"/>
                          <a:ea typeface="Arial"/>
                          <a:cs typeface="Arial"/>
                        </a:rPr>
                        <a:t>Supabase records a new Alice attempt</a:t>
                      </a:r>
                    </a:p>
                  </a:txBody>
                  <a:tcPr marL="91440" marR="91440" marT="45720" marB="45720">
                    <a:solidFill>
                      <a:srgbClr val="EDF1EA"/>
                    </a:solidFill>
                  </a:tcPr>
                </a:tc>
              </a:tr>
              <a:tr h="714375">
                <a:tc>
                  <a:txBody>
                    <a:bodyPr>
                      <a:noAutofit/>
                    </a:bodyPr>
                    <a:lstStyle/>
                    <a:p>
                      <a:r>
                        <a:rPr sz="2025" b="0">
                          <a:solidFill>
                            <a:srgbClr val="173C2F"/>
                          </a:solidFill>
                          <a:latin typeface="Arial"/>
                          <a:ea typeface="Arial"/>
                          <a:cs typeface="Arial"/>
                        </a:rPr>
                        <a:t>Bob remains on the portal</a:t>
                      </a:r>
                    </a:p>
                  </a:txBody>
                  <a:tcPr marL="91440" marR="91440" marT="45720" marB="45720">
                    <a:solidFill>
                      <a:srgbClr val="FFFFFF"/>
                    </a:solidFill>
                  </a:tcPr>
                </a:tc>
                <a:tc>
                  <a:txBody>
                    <a:bodyPr>
                      <a:noAutofit/>
                    </a:bodyPr>
                    <a:lstStyle/>
                    <a:p>
                      <a:r>
                        <a:rPr sz="2025" b="0">
                          <a:solidFill>
                            <a:srgbClr val="173C2F"/>
                          </a:solidFill>
                          <a:latin typeface="Arial"/>
                          <a:ea typeface="Arial"/>
                          <a:cs typeface="Arial"/>
                        </a:rPr>
                        <a:t>Alice’s latest score changes to 1/3</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7B34D26-6786-4D56-8EAA-9EB9F4670E0D}"/>
              </a:ext>
            </a:extLst>
          </p:cNvPr>
          <p:cNvSpPr>
            <a:spLocks xmlns:a="http://schemas.openxmlformats.org/drawingml/2006/main" noGrp="1"/>
          </p:cNvSpPr>
          <p:nvPr/>
        </p:nvSpPr>
        <p:spPr>
          <a:xfrm xmlns:a="http://schemas.openxmlformats.org/drawingml/2006/main">
            <a:off x="609600" y="536257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C2F"/>
                </a:solidFill>
                <a:latin typeface="Arial"/>
                <a:ea typeface="Arial"/>
                <a:cs typeface="Arial"/>
              </a:defRPr>
            </a:pPr>
            <a:r>
              <a:rPr sz="2700" b="1">
                <a:solidFill>
                  <a:srgbClr val="173C2F"/>
                </a:solidFill>
                <a:latin typeface="Arial"/>
                <a:ea typeface="Arial"/>
                <a:cs typeface="Arial"/>
              </a:rPr>
              <a:t>The token attached to the request determines the account.</a:t>
            </a:r>
          </a:p>
        </p:txBody>
      </p:sp>
    </p:spTree>
    <p:extLst>
      <p:ext uri="{BB962C8B-B14F-4D97-AF65-F5344CB8AC3E}">
        <p14:creationId xmlns:p14="http://schemas.microsoft.com/office/powerpoint/2010/main" val="1190036304"/>
      </p:ext>
    </p:extLst>
  </p:cSld>
</p:sld>
</file>

<file path=ppt/slides/slide9.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93DC36F-0A43-408D-868A-249CE69D38EB}"/>
              </a:ext>
            </a:extLst>
          </p:cNvPr>
          <p:cNvSpPr>
            <a:spLocks xmlns:a="http://schemas.openxmlformats.org/drawingml/2006/main" noGrp="1"/>
          </p:cNvSpPr>
          <p:nvPr/>
        </p:nvSpPr>
        <p:spPr>
          <a:xfrm xmlns:a="http://schemas.openxmlformats.org/drawingml/2006/main">
            <a:off x="609600" y="42862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C2F"/>
                </a:solidFill>
                <a:latin typeface="Arial"/>
                <a:ea typeface="Arial"/>
                <a:cs typeface="Arial"/>
              </a:defRPr>
            </a:pPr>
            <a:r>
              <a:rPr sz="3450" b="1">
                <a:solidFill>
                  <a:srgbClr val="173C2F"/>
                </a:solidFill>
                <a:latin typeface="Arial"/>
                <a:ea typeface="Arial"/>
                <a:cs typeface="Arial"/>
              </a:rPr>
              <a:t>What a stolen token allows</a:t>
            </a:r>
          </a:p>
        </p:txBody>
      </p:sp>
      <p:sp>
        <p:nvSpPr>
          <p:cNvPr id="2" name="">
            <a:extLst xmlns:a="http://schemas.openxmlformats.org/drawingml/2006/main">
              <a:ext uri="{FF2B5EF4-FFF2-40B4-BE49-F238E27FC236}">
                <a16:creationId xmlns:a16="http://schemas.microsoft.com/office/drawing/2014/main" id="{0ED223A6-F23D-44D8-B422-DDE0E9AE2A83}"/>
              </a:ext>
            </a:extLst>
          </p:cNvPr>
          <p:cNvSpPr>
            <a:spLocks xmlns:a="http://schemas.openxmlformats.org/drawingml/2006/main" noGrp="1"/>
          </p:cNvSpPr>
          <p:nvPr/>
        </p:nvSpPr>
        <p:spPr>
          <a:xfrm xmlns:a="http://schemas.openxmlformats.org/drawingml/2006/main">
            <a:off x="111442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A60"/>
                </a:solidFill>
                <a:latin typeface="Arial"/>
                <a:ea typeface="Arial"/>
                <a:cs typeface="Arial"/>
              </a:defRPr>
            </a:pPr>
            <a:r>
              <a:rPr sz="1350" b="0">
                <a:solidFill>
                  <a:srgbClr val="586A60"/>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F705747B-81A2-48E9-BE78-4D717602D125}"/>
              </a:ext>
            </a:extLst>
          </p:cNvPr>
          <p:cNvSpPr>
            <a:spLocks xmlns:a="http://schemas.openxmlformats.org/drawingml/2006/main" noGrp="1"/>
          </p:cNvSpPr>
          <p:nvPr/>
        </p:nvSpPr>
        <p:spPr>
          <a:xfrm xmlns:a="http://schemas.openxmlformats.org/drawingml/2006/main">
            <a:off x="609600" y="1933575"/>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C2F"/>
                </a:solidFill>
                <a:latin typeface="Arial"/>
                <a:ea typeface="Arial"/>
                <a:cs typeface="Arial"/>
              </a:defRPr>
            </a:pPr>
            <a:r>
              <a:rPr sz="2550" b="1">
                <a:solidFill>
                  <a:srgbClr val="173C2F"/>
                </a:solidFill>
                <a:latin typeface="Arial"/>
                <a:ea typeface="Arial"/>
                <a:cs typeface="Arial"/>
              </a:rPr>
              <a:t>With Alice’s valid bearer</a:t>
            </a:r>
          </a:p>
        </p:txBody>
      </p:sp>
      <p:sp>
        <p:nvSpPr>
          <p:cNvPr id="4" name="">
            <a:extLst xmlns:a="http://schemas.openxmlformats.org/drawingml/2006/main">
              <a:ext uri="{FF2B5EF4-FFF2-40B4-BE49-F238E27FC236}">
                <a16:creationId xmlns:a16="http://schemas.microsoft.com/office/drawing/2014/main" id="{2FB125D6-2892-4E22-85D8-DE85527F03CE}"/>
              </a:ext>
            </a:extLst>
          </p:cNvPr>
          <p:cNvSpPr>
            <a:spLocks xmlns:a="http://schemas.openxmlformats.org/drawingml/2006/main" noGrp="1"/>
          </p:cNvSpPr>
          <p:nvPr/>
        </p:nvSpPr>
        <p:spPr>
          <a:xfrm xmlns:a="http://schemas.openxmlformats.org/drawingml/2006/main">
            <a:off x="609600" y="28575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586A60"/>
                </a:solidFill>
                <a:latin typeface="Arial"/>
                <a:ea typeface="Arial"/>
                <a:cs typeface="Arial"/>
              </a:defRPr>
            </a:pPr>
            <a:r>
              <a:rPr sz="2325" b="0">
                <a:solidFill>
                  <a:srgbClr val="586A60"/>
                </a:solidFill>
                <a:latin typeface="Arial"/>
                <a:ea typeface="Arial"/>
                <a:cs typeface="Arial"/>
              </a:rPr>
              <a:t>Read Alice’s quiz result.</a:t>
            </a:r>
          </a:p>
          <a:p xmlns:a="http://schemas.openxmlformats.org/drawingml/2006/main">
            <a:r>
              <a:t/>
            </a:r>
          </a:p>
          <a:p xmlns:a="http://schemas.openxmlformats.org/drawingml/2006/main">
            <a:pPr>
              <a:defRPr sz="2325" b="0">
                <a:solidFill>
                  <a:srgbClr val="586A60"/>
                </a:solidFill>
                <a:latin typeface="Arial"/>
                <a:ea typeface="Arial"/>
                <a:cs typeface="Arial"/>
              </a:defRPr>
            </a:pPr>
            <a:r>
              <a:rPr sz="2325" b="0">
                <a:solidFill>
                  <a:srgbClr val="586A60"/>
                </a:solidFill>
                <a:latin typeface="Arial"/>
                <a:ea typeface="Arial"/>
                <a:cs typeface="Arial"/>
              </a:rPr>
              <a:t>Submit another attempt as Alice.</a:t>
            </a:r>
          </a:p>
        </p:txBody>
      </p:sp>
      <p:sp>
        <p:nvSpPr>
          <p:cNvPr id="5" name="">
            <a:extLst xmlns:a="http://schemas.openxmlformats.org/drawingml/2006/main">
              <a:ext uri="{FF2B5EF4-FFF2-40B4-BE49-F238E27FC236}">
                <a16:creationId xmlns:a16="http://schemas.microsoft.com/office/drawing/2014/main" id="{170B14BA-027F-498F-BD79-23A400D60248}"/>
              </a:ext>
            </a:extLst>
          </p:cNvPr>
          <p:cNvSpPr>
            <a:spLocks xmlns:a="http://schemas.openxmlformats.org/drawingml/2006/main" noGrp="1"/>
          </p:cNvSpPr>
          <p:nvPr/>
        </p:nvSpPr>
        <p:spPr>
          <a:xfrm xmlns:a="http://schemas.openxmlformats.org/drawingml/2006/main">
            <a:off x="6572250" y="1933575"/>
            <a:ext cx="509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C2F"/>
                </a:solidFill>
                <a:latin typeface="Arial"/>
                <a:ea typeface="Arial"/>
                <a:cs typeface="Arial"/>
              </a:defRPr>
            </a:pPr>
            <a:r>
              <a:rPr sz="2550" b="1">
                <a:solidFill>
                  <a:srgbClr val="173C2F"/>
                </a:solidFill>
                <a:latin typeface="Arial"/>
                <a:ea typeface="Arial"/>
                <a:cs typeface="Arial"/>
              </a:rPr>
              <a:t>Limits in this demo</a:t>
            </a:r>
          </a:p>
        </p:txBody>
      </p:sp>
      <p:sp>
        <p:nvSpPr>
          <p:cNvPr id="6" name="">
            <a:extLst xmlns:a="http://schemas.openxmlformats.org/drawingml/2006/main">
              <a:ext uri="{FF2B5EF4-FFF2-40B4-BE49-F238E27FC236}">
                <a16:creationId xmlns:a16="http://schemas.microsoft.com/office/drawing/2014/main" id="{DB95953D-42D8-4E72-BECC-0478E76E619B}"/>
              </a:ext>
            </a:extLst>
          </p:cNvPr>
          <p:cNvSpPr>
            <a:spLocks xmlns:a="http://schemas.openxmlformats.org/drawingml/2006/main" noGrp="1"/>
          </p:cNvSpPr>
          <p:nvPr/>
        </p:nvSpPr>
        <p:spPr>
          <a:xfrm xmlns:a="http://schemas.openxmlformats.org/drawingml/2006/main">
            <a:off x="6572250" y="2857500"/>
            <a:ext cx="48577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86A60"/>
                </a:solidFill>
                <a:latin typeface="Arial"/>
                <a:ea typeface="Arial"/>
                <a:cs typeface="Arial"/>
              </a:defRPr>
            </a:pPr>
            <a:r>
              <a:rPr sz="2175" b="0">
                <a:solidFill>
                  <a:srgbClr val="586A60"/>
                </a:solidFill>
                <a:latin typeface="Arial"/>
                <a:ea typeface="Arial"/>
                <a:cs typeface="Arial"/>
              </a:rPr>
              <a:t>It does not disclose her password.</a:t>
            </a:r>
          </a:p>
          <a:p xmlns:a="http://schemas.openxmlformats.org/drawingml/2006/main">
            <a:r>
              <a:t/>
            </a:r>
          </a:p>
          <a:p xmlns:a="http://schemas.openxmlformats.org/drawingml/2006/main">
            <a:pPr>
              <a:defRPr sz="2175" b="0">
                <a:solidFill>
                  <a:srgbClr val="586A60"/>
                </a:solidFill>
                <a:latin typeface="Arial"/>
                <a:ea typeface="Arial"/>
                <a:cs typeface="Arial"/>
              </a:defRPr>
            </a:pPr>
            <a:r>
              <a:rPr sz="2175" b="0">
                <a:solidFill>
                  <a:srgbClr val="586A60"/>
                </a:solidFill>
                <a:latin typeface="Arial"/>
                <a:ea typeface="Arial"/>
                <a:cs typeface="Arial"/>
              </a:rPr>
              <a:t>It cannot become Bob by editing sub.</a:t>
            </a:r>
          </a:p>
          <a:p xmlns:a="http://schemas.openxmlformats.org/drawingml/2006/main">
            <a:r>
              <a:t/>
            </a:r>
          </a:p>
          <a:p xmlns:a="http://schemas.openxmlformats.org/drawingml/2006/main">
            <a:pPr>
              <a:defRPr sz="2175" b="0">
                <a:solidFill>
                  <a:srgbClr val="586A60"/>
                </a:solidFill>
                <a:latin typeface="Arial"/>
                <a:ea typeface="Arial"/>
                <a:cs typeface="Arial"/>
              </a:defRPr>
            </a:pPr>
            <a:r>
              <a:rPr sz="2175" b="0">
                <a:solidFill>
                  <a:srgbClr val="586A60"/>
                </a:solidFill>
                <a:latin typeface="Arial"/>
                <a:ea typeface="Arial"/>
                <a:cs typeface="Arial"/>
              </a:rPr>
              <a:t>Database permissions still apply.</a:t>
            </a:r>
          </a:p>
        </p:txBody>
      </p:sp>
    </p:spTree>
    <p:extLst>
      <p:ext uri="{BB962C8B-B14F-4D97-AF65-F5344CB8AC3E}">
        <p14:creationId xmlns:p14="http://schemas.microsoft.com/office/powerpoint/2010/main" val="188985300"/>
      </p:ext>
    </p:extLst>
  </p:cSld>
</p:sld>
</file>

<file path=ppt/slides/slide10.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FC69867-3BC7-4A6B-9E74-BD7AF01AC26F}"/>
              </a:ext>
            </a:extLst>
          </p:cNvPr>
          <p:cNvSpPr>
            <a:spLocks xmlns:a="http://schemas.openxmlformats.org/drawingml/2006/main" noGrp="1"/>
          </p:cNvSpPr>
          <p:nvPr/>
        </p:nvSpPr>
        <p:spPr>
          <a:xfrm xmlns:a="http://schemas.openxmlformats.org/drawingml/2006/main">
            <a:off x="609600" y="42862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C2F"/>
                </a:solidFill>
                <a:latin typeface="Arial"/>
                <a:ea typeface="Arial"/>
                <a:cs typeface="Arial"/>
              </a:defRPr>
            </a:pPr>
            <a:r>
              <a:rPr sz="3450" b="1">
                <a:solidFill>
                  <a:srgbClr val="173C2F"/>
                </a:solidFill>
                <a:latin typeface="Arial"/>
                <a:ea typeface="Arial"/>
                <a:cs typeface="Arial"/>
              </a:rPr>
              <a:t>Logout and expiry</a:t>
            </a:r>
          </a:p>
        </p:txBody>
      </p:sp>
      <p:sp>
        <p:nvSpPr>
          <p:cNvPr id="2" name="">
            <a:extLst xmlns:a="http://schemas.openxmlformats.org/drawingml/2006/main">
              <a:ext uri="{FF2B5EF4-FFF2-40B4-BE49-F238E27FC236}">
                <a16:creationId xmlns:a16="http://schemas.microsoft.com/office/drawing/2014/main" id="{437AD619-026E-4D74-AF33-25A2478D4EC8}"/>
              </a:ext>
            </a:extLst>
          </p:cNvPr>
          <p:cNvSpPr>
            <a:spLocks xmlns:a="http://schemas.openxmlformats.org/drawingml/2006/main" noGrp="1"/>
          </p:cNvSpPr>
          <p:nvPr/>
        </p:nvSpPr>
        <p:spPr>
          <a:xfrm xmlns:a="http://schemas.openxmlformats.org/drawingml/2006/main">
            <a:off x="111442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A60"/>
                </a:solidFill>
                <a:latin typeface="Arial"/>
                <a:ea typeface="Arial"/>
                <a:cs typeface="Arial"/>
              </a:defRPr>
            </a:pPr>
            <a:r>
              <a:rPr sz="1350" b="0">
                <a:solidFill>
                  <a:srgbClr val="586A60"/>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92948738-91E3-4A34-8C00-574A8C7EA84F}"/>
              </a:ext>
            </a:extLst>
          </p:cNvPr>
          <p:cNvSpPr>
            <a:spLocks xmlns:a="http://schemas.openxmlformats.org/drawingml/2006/main" noGrp="1"/>
          </p:cNvSpPr>
          <p:nvPr/>
        </p:nvSpPr>
        <p:spPr>
          <a:xfrm xmlns:a="http://schemas.openxmlformats.org/drawingml/2006/main">
            <a:off x="609600" y="18097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A6A2B"/>
                </a:solidFill>
                <a:latin typeface="Arial"/>
                <a:ea typeface="Arial"/>
                <a:cs typeface="Arial"/>
              </a:defRPr>
            </a:pPr>
            <a:r>
              <a:rPr sz="3150" b="1">
                <a:solidFill>
                  <a:srgbClr val="9A6A2B"/>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0F851570-6EB6-4473-8778-D392C01DAF22}"/>
              </a:ext>
            </a:extLst>
          </p:cNvPr>
          <p:cNvSpPr>
            <a:spLocks xmlns:a="http://schemas.openxmlformats.org/drawingml/2006/main" noGrp="1"/>
          </p:cNvSpPr>
          <p:nvPr/>
        </p:nvSpPr>
        <p:spPr>
          <a:xfrm xmlns:a="http://schemas.openxmlformats.org/drawingml/2006/main">
            <a:off x="1571625" y="1809750"/>
            <a:ext cx="990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C2F"/>
                </a:solidFill>
                <a:latin typeface="Arial"/>
                <a:ea typeface="Arial"/>
                <a:cs typeface="Arial"/>
              </a:defRPr>
            </a:pPr>
            <a:r>
              <a:rPr sz="2175" b="1">
                <a:solidFill>
                  <a:srgbClr val="173C2F"/>
                </a:solidFill>
                <a:latin typeface="Arial"/>
                <a:ea typeface="Arial"/>
                <a:cs typeface="Arial"/>
              </a:rPr>
              <a:t>The portal removes its saved session</a:t>
            </a:r>
          </a:p>
        </p:txBody>
      </p:sp>
      <p:sp>
        <p:nvSpPr>
          <p:cNvPr id="5" name="">
            <a:extLst xmlns:a="http://schemas.openxmlformats.org/drawingml/2006/main">
              <a:ext uri="{FF2B5EF4-FFF2-40B4-BE49-F238E27FC236}">
                <a16:creationId xmlns:a16="http://schemas.microsoft.com/office/drawing/2014/main" id="{91CFC2CE-E27D-4AF9-BACA-1D25AA6A9837}"/>
              </a:ext>
            </a:extLst>
          </p:cNvPr>
          <p:cNvSpPr>
            <a:spLocks xmlns:a="http://schemas.openxmlformats.org/drawingml/2006/main" noGrp="1"/>
          </p:cNvSpPr>
          <p:nvPr/>
        </p:nvSpPr>
        <p:spPr>
          <a:xfrm xmlns:a="http://schemas.openxmlformats.org/drawingml/2006/main">
            <a:off x="1571625" y="2276475"/>
            <a:ext cx="971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A60"/>
                </a:solidFill>
                <a:latin typeface="Arial"/>
                <a:ea typeface="Arial"/>
                <a:cs typeface="Arial"/>
              </a:defRPr>
            </a:pPr>
            <a:r>
              <a:rPr sz="1875" b="0">
                <a:solidFill>
                  <a:srgbClr val="586A60"/>
                </a:solidFill>
                <a:latin typeface="Arial"/>
                <a:ea typeface="Arial"/>
                <a:cs typeface="Arial"/>
              </a:rPr>
              <a:t>Successful local sign-out also revokes refresh tokens for that session.</a:t>
            </a:r>
          </a:p>
        </p:txBody>
      </p:sp>
      <p:sp>
        <p:nvSpPr>
          <p:cNvPr id="6" name="">
            <a:extLst xmlns:a="http://schemas.openxmlformats.org/drawingml/2006/main">
              <a:ext uri="{FF2B5EF4-FFF2-40B4-BE49-F238E27FC236}">
                <a16:creationId xmlns:a16="http://schemas.microsoft.com/office/drawing/2014/main" id="{B9D574C2-9966-4582-9BB3-E43E3BF0175A}"/>
              </a:ext>
            </a:extLst>
          </p:cNvPr>
          <p:cNvSpPr>
            <a:spLocks xmlns:a="http://schemas.openxmlformats.org/drawingml/2006/main" noGrp="1"/>
          </p:cNvSpPr>
          <p:nvPr/>
        </p:nvSpPr>
        <p:spPr>
          <a:xfrm xmlns:a="http://schemas.openxmlformats.org/drawingml/2006/main">
            <a:off x="609600" y="357187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A6A2B"/>
                </a:solidFill>
                <a:latin typeface="Arial"/>
                <a:ea typeface="Arial"/>
                <a:cs typeface="Arial"/>
              </a:defRPr>
            </a:pPr>
            <a:r>
              <a:rPr sz="3150" b="1">
                <a:solidFill>
                  <a:srgbClr val="9A6A2B"/>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F1C22F05-ED20-4F86-8567-8B0DF3E370A1}"/>
              </a:ext>
            </a:extLst>
          </p:cNvPr>
          <p:cNvSpPr>
            <a:spLocks xmlns:a="http://schemas.openxmlformats.org/drawingml/2006/main" noGrp="1"/>
          </p:cNvSpPr>
          <p:nvPr/>
        </p:nvSpPr>
        <p:spPr>
          <a:xfrm xmlns:a="http://schemas.openxmlformats.org/drawingml/2006/main">
            <a:off x="1571625" y="3571875"/>
            <a:ext cx="990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C2F"/>
                </a:solidFill>
                <a:latin typeface="Arial"/>
                <a:ea typeface="Arial"/>
                <a:cs typeface="Arial"/>
              </a:defRPr>
            </a:pPr>
            <a:r>
              <a:rPr sz="2175" b="1">
                <a:solidFill>
                  <a:srgbClr val="173C2F"/>
                </a:solidFill>
                <a:latin typeface="Arial"/>
                <a:ea typeface="Arial"/>
                <a:cs typeface="Arial"/>
              </a:rPr>
              <a:t>A copied access token can remain usable</a:t>
            </a:r>
          </a:p>
        </p:txBody>
      </p:sp>
      <p:sp>
        <p:nvSpPr>
          <p:cNvPr id="8" name="">
            <a:extLst xmlns:a="http://schemas.openxmlformats.org/drawingml/2006/main">
              <a:ext uri="{FF2B5EF4-FFF2-40B4-BE49-F238E27FC236}">
                <a16:creationId xmlns:a16="http://schemas.microsoft.com/office/drawing/2014/main" id="{D49C6583-5797-405F-AF4F-BC052338D491}"/>
              </a:ext>
            </a:extLst>
          </p:cNvPr>
          <p:cNvSpPr>
            <a:spLocks xmlns:a="http://schemas.openxmlformats.org/drawingml/2006/main" noGrp="1"/>
          </p:cNvSpPr>
          <p:nvPr/>
        </p:nvSpPr>
        <p:spPr>
          <a:xfrm xmlns:a="http://schemas.openxmlformats.org/drawingml/2006/main">
            <a:off x="1571625" y="4038600"/>
            <a:ext cx="971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A60"/>
                </a:solidFill>
                <a:latin typeface="Arial"/>
                <a:ea typeface="Arial"/>
                <a:cs typeface="Arial"/>
              </a:defRPr>
            </a:pPr>
            <a:r>
              <a:rPr sz="1875" b="0">
                <a:solidFill>
                  <a:srgbClr val="586A60"/>
                </a:solidFill>
                <a:latin typeface="Arial"/>
                <a:ea typeface="Arial"/>
                <a:cs typeface="Arial"/>
              </a:rPr>
              <a:t>The API can accept an already-issued JWT until its expiry.</a:t>
            </a:r>
          </a:p>
        </p:txBody>
      </p:sp>
      <p:sp>
        <p:nvSpPr>
          <p:cNvPr id="9" name="">
            <a:extLst xmlns:a="http://schemas.openxmlformats.org/drawingml/2006/main">
              <a:ext uri="{FF2B5EF4-FFF2-40B4-BE49-F238E27FC236}">
                <a16:creationId xmlns:a16="http://schemas.microsoft.com/office/drawing/2014/main" id="{975BB5DD-2B24-4AE8-97CE-536F5E4A87FE}"/>
              </a:ext>
            </a:extLst>
          </p:cNvPr>
          <p:cNvSpPr>
            <a:spLocks xmlns:a="http://schemas.openxmlformats.org/drawingml/2006/main" noGrp="1"/>
          </p:cNvSpPr>
          <p:nvPr/>
        </p:nvSpPr>
        <p:spPr>
          <a:xfrm xmlns:a="http://schemas.openxmlformats.org/drawingml/2006/main">
            <a:off x="609600" y="56959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C2F"/>
                </a:solidFill>
                <a:latin typeface="Arial"/>
                <a:ea typeface="Arial"/>
                <a:cs typeface="Arial"/>
              </a:defRPr>
            </a:pPr>
            <a:r>
              <a:rPr sz="2175" b="1">
                <a:solidFill>
                  <a:srgbClr val="173C2F"/>
                </a:solidFill>
                <a:latin typeface="Arial"/>
                <a:ea typeface="Arial"/>
                <a:cs typeface="Arial"/>
              </a:rPr>
              <a:t>Signing out of a tab does not erase copies held elsewhere.</a:t>
            </a:r>
          </a:p>
        </p:txBody>
      </p:sp>
    </p:spTree>
    <p:extLst>
      <p:ext uri="{BB962C8B-B14F-4D97-AF65-F5344CB8AC3E}">
        <p14:creationId xmlns:p14="http://schemas.microsoft.com/office/powerpoint/2010/main" val="1485147177"/>
      </p:ext>
    </p:extLst>
  </p:cSld>
</p:sld>
</file>

<file path=ppt/slides/slide11.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D1ED8A7-D9CD-488A-8348-C439C1BA3ED6}"/>
              </a:ext>
            </a:extLst>
          </p:cNvPr>
          <p:cNvSpPr>
            <a:spLocks xmlns:a="http://schemas.openxmlformats.org/drawingml/2006/main" noGrp="1"/>
          </p:cNvSpPr>
          <p:nvPr/>
        </p:nvSpPr>
        <p:spPr>
          <a:xfrm xmlns:a="http://schemas.openxmlformats.org/drawingml/2006/main">
            <a:off x="609600" y="42862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C2F"/>
                </a:solidFill>
                <a:latin typeface="Arial"/>
                <a:ea typeface="Arial"/>
                <a:cs typeface="Arial"/>
              </a:defRPr>
            </a:pPr>
            <a:r>
              <a:rPr sz="3450" b="1">
                <a:solidFill>
                  <a:srgbClr val="173C2F"/>
                </a:solidFill>
                <a:latin typeface="Arial"/>
                <a:ea typeface="Arial"/>
                <a:cs typeface="Arial"/>
              </a:rPr>
              <a:t>Sign in with Google</a:t>
            </a:r>
          </a:p>
        </p:txBody>
      </p:sp>
      <p:sp>
        <p:nvSpPr>
          <p:cNvPr id="2" name="">
            <a:extLst xmlns:a="http://schemas.openxmlformats.org/drawingml/2006/main">
              <a:ext uri="{FF2B5EF4-FFF2-40B4-BE49-F238E27FC236}">
                <a16:creationId xmlns:a16="http://schemas.microsoft.com/office/drawing/2014/main" id="{4286FC73-A250-4D0B-8748-D2C8B0C285D7}"/>
              </a:ext>
            </a:extLst>
          </p:cNvPr>
          <p:cNvSpPr>
            <a:spLocks xmlns:a="http://schemas.openxmlformats.org/drawingml/2006/main" noGrp="1"/>
          </p:cNvSpPr>
          <p:nvPr/>
        </p:nvSpPr>
        <p:spPr>
          <a:xfrm xmlns:a="http://schemas.openxmlformats.org/drawingml/2006/main">
            <a:off x="111442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A60"/>
                </a:solidFill>
                <a:latin typeface="Arial"/>
                <a:ea typeface="Arial"/>
                <a:cs typeface="Arial"/>
              </a:defRPr>
            </a:pPr>
            <a:r>
              <a:rPr sz="1350" b="0">
                <a:solidFill>
                  <a:srgbClr val="586A60"/>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B3C49335-7F5B-4C23-B7FE-9ACABE968582}"/>
              </a:ext>
            </a:extLst>
          </p:cNvPr>
          <p:cNvSpPr>
            <a:spLocks xmlns:a="http://schemas.openxmlformats.org/drawingml/2006/main" noGrp="1"/>
          </p:cNvSpPr>
          <p:nvPr/>
        </p:nvSpPr>
        <p:spPr>
          <a:xfrm xmlns:a="http://schemas.openxmlformats.org/drawingml/2006/main">
            <a:off x="609600" y="16192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A6A2B"/>
                </a:solidFill>
                <a:latin typeface="Arial"/>
                <a:ea typeface="Arial"/>
                <a:cs typeface="Arial"/>
              </a:defRPr>
            </a:pPr>
            <a:r>
              <a:rPr sz="3150" b="1">
                <a:solidFill>
                  <a:srgbClr val="9A6A2B"/>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25142D12-7283-4AF9-B7C4-5015265E2A84}"/>
              </a:ext>
            </a:extLst>
          </p:cNvPr>
          <p:cNvSpPr>
            <a:spLocks xmlns:a="http://schemas.openxmlformats.org/drawingml/2006/main" noGrp="1"/>
          </p:cNvSpPr>
          <p:nvPr/>
        </p:nvSpPr>
        <p:spPr>
          <a:xfrm xmlns:a="http://schemas.openxmlformats.org/drawingml/2006/main">
            <a:off x="1571625" y="1619250"/>
            <a:ext cx="990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C2F"/>
                </a:solidFill>
                <a:latin typeface="Arial"/>
                <a:ea typeface="Arial"/>
                <a:cs typeface="Arial"/>
              </a:defRPr>
            </a:pPr>
            <a:r>
              <a:rPr sz="2175" b="1">
                <a:solidFill>
                  <a:srgbClr val="173C2F"/>
                </a:solidFill>
                <a:latin typeface="Arial"/>
                <a:ea typeface="Arial"/>
                <a:cs typeface="Arial"/>
              </a:rPr>
              <a:t>The browser opens Google’s sign-in flow</a:t>
            </a:r>
          </a:p>
        </p:txBody>
      </p:sp>
      <p:sp>
        <p:nvSpPr>
          <p:cNvPr id="5" name="">
            <a:extLst xmlns:a="http://schemas.openxmlformats.org/drawingml/2006/main">
              <a:ext uri="{FF2B5EF4-FFF2-40B4-BE49-F238E27FC236}">
                <a16:creationId xmlns:a16="http://schemas.microsoft.com/office/drawing/2014/main" id="{EE168F5E-4258-4899-9DF2-A593C47FE3CA}"/>
              </a:ext>
            </a:extLst>
          </p:cNvPr>
          <p:cNvSpPr>
            <a:spLocks xmlns:a="http://schemas.openxmlformats.org/drawingml/2006/main" noGrp="1"/>
          </p:cNvSpPr>
          <p:nvPr/>
        </p:nvSpPr>
        <p:spPr>
          <a:xfrm xmlns:a="http://schemas.openxmlformats.org/drawingml/2006/main">
            <a:off x="1571625" y="2085975"/>
            <a:ext cx="971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A60"/>
                </a:solidFill>
                <a:latin typeface="Arial"/>
                <a:ea typeface="Arial"/>
                <a:cs typeface="Arial"/>
              </a:defRPr>
            </a:pPr>
            <a:r>
              <a:rPr sz="1875" b="0">
                <a:solidFill>
                  <a:srgbClr val="586A60"/>
                </a:solidFill>
                <a:latin typeface="Arial"/>
                <a:ea typeface="Arial"/>
                <a:cs typeface="Arial"/>
              </a:rPr>
              <a:t>Google handles the password or an existing Google session.</a:t>
            </a:r>
          </a:p>
        </p:txBody>
      </p:sp>
      <p:sp>
        <p:nvSpPr>
          <p:cNvPr id="6" name="">
            <a:extLst xmlns:a="http://schemas.openxmlformats.org/drawingml/2006/main">
              <a:ext uri="{FF2B5EF4-FFF2-40B4-BE49-F238E27FC236}">
                <a16:creationId xmlns:a16="http://schemas.microsoft.com/office/drawing/2014/main" id="{82164CC8-D4F3-442E-BCC5-BCD0F7379D96}"/>
              </a:ext>
            </a:extLst>
          </p:cNvPr>
          <p:cNvSpPr>
            <a:spLocks xmlns:a="http://schemas.openxmlformats.org/drawingml/2006/main" noGrp="1"/>
          </p:cNvSpPr>
          <p:nvPr/>
        </p:nvSpPr>
        <p:spPr>
          <a:xfrm xmlns:a="http://schemas.openxmlformats.org/drawingml/2006/main">
            <a:off x="609600" y="30480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A6A2B"/>
                </a:solidFill>
                <a:latin typeface="Arial"/>
                <a:ea typeface="Arial"/>
                <a:cs typeface="Arial"/>
              </a:defRPr>
            </a:pPr>
            <a:r>
              <a:rPr sz="3150" b="1">
                <a:solidFill>
                  <a:srgbClr val="9A6A2B"/>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A31E0A41-1B8E-409D-B810-7486C2CCA2C9}"/>
              </a:ext>
            </a:extLst>
          </p:cNvPr>
          <p:cNvSpPr>
            <a:spLocks xmlns:a="http://schemas.openxmlformats.org/drawingml/2006/main" noGrp="1"/>
          </p:cNvSpPr>
          <p:nvPr/>
        </p:nvSpPr>
        <p:spPr>
          <a:xfrm xmlns:a="http://schemas.openxmlformats.org/drawingml/2006/main">
            <a:off x="1571625" y="3048000"/>
            <a:ext cx="990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C2F"/>
                </a:solidFill>
                <a:latin typeface="Arial"/>
                <a:ea typeface="Arial"/>
                <a:cs typeface="Arial"/>
              </a:defRPr>
            </a:pPr>
            <a:r>
              <a:rPr sz="2175" b="1">
                <a:solidFill>
                  <a:srgbClr val="173C2F"/>
                </a:solidFill>
                <a:latin typeface="Arial"/>
                <a:ea typeface="Arial"/>
                <a:cs typeface="Arial"/>
              </a:rPr>
              <a:t>Supabase receives a code and checks Google’s identity response</a:t>
            </a:r>
          </a:p>
        </p:txBody>
      </p:sp>
      <p:sp>
        <p:nvSpPr>
          <p:cNvPr id="8" name="">
            <a:extLst xmlns:a="http://schemas.openxmlformats.org/drawingml/2006/main">
              <a:ext uri="{FF2B5EF4-FFF2-40B4-BE49-F238E27FC236}">
                <a16:creationId xmlns:a16="http://schemas.microsoft.com/office/drawing/2014/main" id="{0C4CD7D4-524F-4F40-85D6-5A977B14054E}"/>
              </a:ext>
            </a:extLst>
          </p:cNvPr>
          <p:cNvSpPr>
            <a:spLocks xmlns:a="http://schemas.openxmlformats.org/drawingml/2006/main" noGrp="1"/>
          </p:cNvSpPr>
          <p:nvPr/>
        </p:nvSpPr>
        <p:spPr>
          <a:xfrm xmlns:a="http://schemas.openxmlformats.org/drawingml/2006/main">
            <a:off x="1571625" y="3514725"/>
            <a:ext cx="971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A60"/>
                </a:solidFill>
                <a:latin typeface="Arial"/>
                <a:ea typeface="Arial"/>
                <a:cs typeface="Arial"/>
              </a:defRPr>
            </a:pPr>
            <a:r>
              <a:rPr sz="1875" b="0">
                <a:solidFill>
                  <a:srgbClr val="586A60"/>
                </a:solidFill>
                <a:latin typeface="Arial"/>
                <a:ea typeface="Arial"/>
                <a:cs typeface="Arial"/>
              </a:rPr>
              <a:t>The redirect flow uses OAuth 2.0 with OpenID Connect for identity.</a:t>
            </a:r>
          </a:p>
        </p:txBody>
      </p:sp>
      <p:sp>
        <p:nvSpPr>
          <p:cNvPr id="9" name="">
            <a:extLst xmlns:a="http://schemas.openxmlformats.org/drawingml/2006/main">
              <a:ext uri="{FF2B5EF4-FFF2-40B4-BE49-F238E27FC236}">
                <a16:creationId xmlns:a16="http://schemas.microsoft.com/office/drawing/2014/main" id="{821D8D6C-854F-497F-9CE7-7A4A7E1AEDD0}"/>
              </a:ext>
            </a:extLst>
          </p:cNvPr>
          <p:cNvSpPr>
            <a:spLocks xmlns:a="http://schemas.openxmlformats.org/drawingml/2006/main" noGrp="1"/>
          </p:cNvSpPr>
          <p:nvPr/>
        </p:nvSpPr>
        <p:spPr>
          <a:xfrm xmlns:a="http://schemas.openxmlformats.org/drawingml/2006/main">
            <a:off x="609600" y="44767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A6A2B"/>
                </a:solidFill>
                <a:latin typeface="Arial"/>
                <a:ea typeface="Arial"/>
                <a:cs typeface="Arial"/>
              </a:defRPr>
            </a:pPr>
            <a:r>
              <a:rPr sz="3150" b="1">
                <a:solidFill>
                  <a:srgbClr val="9A6A2B"/>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591A4A0F-7D58-4FA6-BF71-EE7D457A662A}"/>
              </a:ext>
            </a:extLst>
          </p:cNvPr>
          <p:cNvSpPr>
            <a:spLocks xmlns:a="http://schemas.openxmlformats.org/drawingml/2006/main" noGrp="1"/>
          </p:cNvSpPr>
          <p:nvPr/>
        </p:nvSpPr>
        <p:spPr>
          <a:xfrm xmlns:a="http://schemas.openxmlformats.org/drawingml/2006/main">
            <a:off x="1571625" y="4476750"/>
            <a:ext cx="990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C2F"/>
                </a:solidFill>
                <a:latin typeface="Arial"/>
                <a:ea typeface="Arial"/>
                <a:cs typeface="Arial"/>
              </a:defRPr>
            </a:pPr>
            <a:r>
              <a:rPr sz="2175" b="1">
                <a:solidFill>
                  <a:srgbClr val="173C2F"/>
                </a:solidFill>
                <a:latin typeface="Arial"/>
                <a:ea typeface="Arial"/>
                <a:cs typeface="Arial"/>
              </a:rPr>
              <a:t>Supabase creates the app’s session</a:t>
            </a:r>
          </a:p>
        </p:txBody>
      </p:sp>
      <p:sp>
        <p:nvSpPr>
          <p:cNvPr id="11" name="">
            <a:extLst xmlns:a="http://schemas.openxmlformats.org/drawingml/2006/main">
              <a:ext uri="{FF2B5EF4-FFF2-40B4-BE49-F238E27FC236}">
                <a16:creationId xmlns:a16="http://schemas.microsoft.com/office/drawing/2014/main" id="{448B8841-501B-4C97-BF31-F5C2981BEFF6}"/>
              </a:ext>
            </a:extLst>
          </p:cNvPr>
          <p:cNvSpPr>
            <a:spLocks xmlns:a="http://schemas.openxmlformats.org/drawingml/2006/main" noGrp="1"/>
          </p:cNvSpPr>
          <p:nvPr/>
        </p:nvSpPr>
        <p:spPr>
          <a:xfrm xmlns:a="http://schemas.openxmlformats.org/drawingml/2006/main">
            <a:off x="1571625" y="4943475"/>
            <a:ext cx="971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A60"/>
                </a:solidFill>
                <a:latin typeface="Arial"/>
                <a:ea typeface="Arial"/>
                <a:cs typeface="Arial"/>
              </a:defRPr>
            </a:pPr>
            <a:r>
              <a:rPr sz="1875" b="0">
                <a:solidFill>
                  <a:srgbClr val="586A60"/>
                </a:solidFill>
                <a:latin typeface="Arial"/>
                <a:ea typeface="Arial"/>
                <a:cs typeface="Arial"/>
              </a:rPr>
              <a:t>The app receives its own session without receiving the Google password.</a:t>
            </a:r>
          </a:p>
        </p:txBody>
      </p:sp>
    </p:spTree>
    <p:extLst>
      <p:ext uri="{BB962C8B-B14F-4D97-AF65-F5344CB8AC3E}">
        <p14:creationId xmlns:p14="http://schemas.microsoft.com/office/powerpoint/2010/main" val="637243116"/>
      </p:ext>
    </p:extLst>
  </p:cSld>
</p:sld>
</file>

<file path=ppt/slides/slide12.xml><?xml version="1.0" encoding="utf-8"?>
<p:sld xmlns:p="http://schemas.openxmlformats.org/presentationml/2006/main">
  <p:cSld>
    <p:bg>
      <p:bgPr>
        <a:solidFill xmlns:a="http://schemas.openxmlformats.org/drawingml/2006/main">
          <a:srgbClr val="173C2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052D56-7A6D-4A99-BC9C-EEBFFE9F7744}"/>
              </a:ext>
            </a:extLst>
          </p:cNvPr>
          <p:cNvSpPr>
            <a:spLocks xmlns:a="http://schemas.openxmlformats.org/drawingml/2006/main" noGrp="1"/>
          </p:cNvSpPr>
          <p:nvPr/>
        </p:nvSpPr>
        <p:spPr>
          <a:xfrm xmlns:a="http://schemas.openxmlformats.org/drawingml/2006/main">
            <a:off x="609600" y="42862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6F4ED"/>
                </a:solidFill>
                <a:latin typeface="Arial"/>
                <a:ea typeface="Arial"/>
                <a:cs typeface="Arial"/>
              </a:defRPr>
            </a:pPr>
            <a:r>
              <a:rPr sz="3450" b="1">
                <a:solidFill>
                  <a:srgbClr val="F6F4ED"/>
                </a:solidFill>
                <a:latin typeface="Arial"/>
                <a:ea typeface="Arial"/>
                <a:cs typeface="Arial"/>
              </a:rPr>
              <a:t>Live walkthrough</a:t>
            </a:r>
          </a:p>
        </p:txBody>
      </p:sp>
      <p:sp>
        <p:nvSpPr>
          <p:cNvPr id="2" name="">
            <a:extLst xmlns:a="http://schemas.openxmlformats.org/drawingml/2006/main">
              <a:ext uri="{FF2B5EF4-FFF2-40B4-BE49-F238E27FC236}">
                <a16:creationId xmlns:a16="http://schemas.microsoft.com/office/drawing/2014/main" id="{5F02480A-42F0-4CDB-98FA-D112D696BA84}"/>
              </a:ext>
            </a:extLst>
          </p:cNvPr>
          <p:cNvSpPr>
            <a:spLocks xmlns:a="http://schemas.openxmlformats.org/drawingml/2006/main" noGrp="1"/>
          </p:cNvSpPr>
          <p:nvPr/>
        </p:nvSpPr>
        <p:spPr>
          <a:xfrm xmlns:a="http://schemas.openxmlformats.org/drawingml/2006/main">
            <a:off x="111442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BC1B3"/>
                </a:solidFill>
                <a:latin typeface="Arial"/>
                <a:ea typeface="Arial"/>
                <a:cs typeface="Arial"/>
              </a:defRPr>
            </a:pPr>
            <a:r>
              <a:rPr sz="1350" b="0">
                <a:solidFill>
                  <a:srgbClr val="ABC1B3"/>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FEE91141-C8AC-4C59-8A04-FC8F805E4E90}"/>
              </a:ext>
            </a:extLst>
          </p:cNvPr>
          <p:cNvSpPr>
            <a:spLocks xmlns:a="http://schemas.openxmlformats.org/drawingml/2006/main" noGrp="1"/>
          </p:cNvSpPr>
          <p:nvPr/>
        </p:nvSpPr>
        <p:spPr>
          <a:xfrm xmlns:a="http://schemas.openxmlformats.org/drawingml/2006/main">
            <a:off x="609600" y="1933575"/>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6F4ED"/>
                </a:solidFill>
                <a:latin typeface="Arial"/>
                <a:ea typeface="Arial"/>
                <a:cs typeface="Arial"/>
              </a:defRPr>
            </a:pPr>
            <a:r>
              <a:rPr sz="2625" b="1">
                <a:solidFill>
                  <a:srgbClr val="F6F4ED"/>
                </a:solidFill>
                <a:latin typeface="Arial"/>
                <a:ea typeface="Arial"/>
                <a:cs typeface="Arial"/>
              </a:rPr>
              <a:t>Student portal</a:t>
            </a:r>
          </a:p>
        </p:txBody>
      </p:sp>
      <p:sp>
        <p:nvSpPr>
          <p:cNvPr id="4" name="">
            <a:extLst xmlns:a="http://schemas.openxmlformats.org/drawingml/2006/main">
              <a:ext uri="{FF2B5EF4-FFF2-40B4-BE49-F238E27FC236}">
                <a16:creationId xmlns:a16="http://schemas.microsoft.com/office/drawing/2014/main" id="{612C52F1-6864-461E-9D26-D2083613D7BE}"/>
              </a:ext>
            </a:extLst>
          </p:cNvPr>
          <p:cNvSpPr>
            <a:spLocks xmlns:a="http://schemas.openxmlformats.org/drawingml/2006/main" noGrp="1"/>
          </p:cNvSpPr>
          <p:nvPr/>
        </p:nvSpPr>
        <p:spPr>
          <a:xfrm xmlns:a="http://schemas.openxmlformats.org/drawingml/2006/main">
            <a:off x="609600" y="2847975"/>
            <a:ext cx="538162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CDD8CE"/>
                </a:solidFill>
                <a:latin typeface="Arial"/>
                <a:ea typeface="Arial"/>
                <a:cs typeface="Arial"/>
              </a:defRPr>
            </a:pPr>
            <a:r>
              <a:rPr sz="2175" b="0">
                <a:solidFill>
                  <a:srgbClr val="CDD8CE"/>
                </a:solidFill>
                <a:latin typeface="Arial"/>
                <a:ea typeface="Arial"/>
                <a:cs typeface="Arial"/>
              </a:rPr>
              <a:t>1  Read a result as a guest: 401</a:t>
            </a:r>
          </a:p>
          <a:p xmlns:a="http://schemas.openxmlformats.org/drawingml/2006/main">
            <a:r>
              <a:t/>
            </a:r>
          </a:p>
          <a:p xmlns:a="http://schemas.openxmlformats.org/drawingml/2006/main">
            <a:pPr>
              <a:defRPr sz="2175" b="0">
                <a:solidFill>
                  <a:srgbClr val="CDD8CE"/>
                </a:solidFill>
                <a:latin typeface="Arial"/>
                <a:ea typeface="Arial"/>
                <a:cs typeface="Arial"/>
              </a:defRPr>
            </a:pPr>
            <a:r>
              <a:rPr sz="2175" b="0">
                <a:solidFill>
                  <a:srgbClr val="CDD8CE"/>
                </a:solidFill>
                <a:latin typeface="Arial"/>
                <a:ea typeface="Arial"/>
                <a:cs typeface="Arial"/>
              </a:rPr>
              <a:t>2  Sign in and submit the quiz</a:t>
            </a:r>
          </a:p>
          <a:p xmlns:a="http://schemas.openxmlformats.org/drawingml/2006/main">
            <a:r>
              <a:t/>
            </a:r>
          </a:p>
          <a:p xmlns:a="http://schemas.openxmlformats.org/drawingml/2006/main">
            <a:pPr>
              <a:defRPr sz="2175" b="0">
                <a:solidFill>
                  <a:srgbClr val="CDD8CE"/>
                </a:solidFill>
                <a:latin typeface="Arial"/>
                <a:ea typeface="Arial"/>
                <a:cs typeface="Arial"/>
              </a:defRPr>
            </a:pPr>
            <a:r>
              <a:rPr sz="2175" b="0">
                <a:solidFill>
                  <a:srgbClr val="CDD8CE"/>
                </a:solidFill>
                <a:latin typeface="Arial"/>
                <a:ea typeface="Arial"/>
                <a:cs typeface="Arial"/>
              </a:rPr>
              <a:t>3  Reload and inspect the session</a:t>
            </a:r>
          </a:p>
        </p:txBody>
      </p:sp>
      <p:sp>
        <p:nvSpPr>
          <p:cNvPr id="5" name="">
            <a:extLst xmlns:a="http://schemas.openxmlformats.org/drawingml/2006/main">
              <a:ext uri="{FF2B5EF4-FFF2-40B4-BE49-F238E27FC236}">
                <a16:creationId xmlns:a16="http://schemas.microsoft.com/office/drawing/2014/main" id="{331775D8-DF58-4AC9-9364-90BCCEA7E3D2}"/>
              </a:ext>
            </a:extLst>
          </p:cNvPr>
          <p:cNvSpPr>
            <a:spLocks xmlns:a="http://schemas.openxmlformats.org/drawingml/2006/main" noGrp="1"/>
          </p:cNvSpPr>
          <p:nvPr/>
        </p:nvSpPr>
        <p:spPr>
          <a:xfrm xmlns:a="http://schemas.openxmlformats.org/drawingml/2006/main">
            <a:off x="6667500" y="19335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6F4ED"/>
                </a:solidFill>
                <a:latin typeface="Arial"/>
                <a:ea typeface="Arial"/>
                <a:cs typeface="Arial"/>
              </a:defRPr>
            </a:pPr>
            <a:r>
              <a:rPr sz="2625" b="1">
                <a:solidFill>
                  <a:srgbClr val="F6F4ED"/>
                </a:solidFill>
                <a:latin typeface="Arial"/>
                <a:ea typeface="Arial"/>
                <a:cs typeface="Arial"/>
              </a:rPr>
              <a:t>Swagger</a:t>
            </a:r>
          </a:p>
        </p:txBody>
      </p:sp>
      <p:sp>
        <p:nvSpPr>
          <p:cNvPr id="6" name="">
            <a:extLst xmlns:a="http://schemas.openxmlformats.org/drawingml/2006/main">
              <a:ext uri="{FF2B5EF4-FFF2-40B4-BE49-F238E27FC236}">
                <a16:creationId xmlns:a16="http://schemas.microsoft.com/office/drawing/2014/main" id="{84377EBB-1722-495F-87A0-8FC3AC2DDB98}"/>
              </a:ext>
            </a:extLst>
          </p:cNvPr>
          <p:cNvSpPr>
            <a:spLocks xmlns:a="http://schemas.openxmlformats.org/drawingml/2006/main" noGrp="1"/>
          </p:cNvSpPr>
          <p:nvPr/>
        </p:nvSpPr>
        <p:spPr>
          <a:xfrm xmlns:a="http://schemas.openxmlformats.org/drawingml/2006/main">
            <a:off x="6667500" y="2847975"/>
            <a:ext cx="4857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CDD8CE"/>
                </a:solidFill>
                <a:latin typeface="Arial"/>
                <a:ea typeface="Arial"/>
                <a:cs typeface="Arial"/>
              </a:defRPr>
            </a:pPr>
            <a:r>
              <a:rPr sz="2175" b="0">
                <a:solidFill>
                  <a:srgbClr val="CDD8CE"/>
                </a:solidFill>
                <a:latin typeface="Arial"/>
                <a:ea typeface="Arial"/>
                <a:cs typeface="Arial"/>
              </a:rPr>
              <a:t>4  Attach and remove the bearer</a:t>
            </a:r>
          </a:p>
          <a:p xmlns:a="http://schemas.openxmlformats.org/drawingml/2006/main">
            <a:r>
              <a:t/>
            </a:r>
          </a:p>
          <a:p xmlns:a="http://schemas.openxmlformats.org/drawingml/2006/main">
            <a:pPr>
              <a:defRPr sz="2175" b="0">
                <a:solidFill>
                  <a:srgbClr val="CDD8CE"/>
                </a:solidFill>
                <a:latin typeface="Arial"/>
                <a:ea typeface="Arial"/>
                <a:cs typeface="Arial"/>
              </a:defRPr>
            </a:pPr>
            <a:r>
              <a:rPr sz="2175" b="0">
                <a:solidFill>
                  <a:srgbClr val="CDD8CE"/>
                </a:solidFill>
                <a:latin typeface="Arial"/>
                <a:ea typeface="Arial"/>
                <a:cs typeface="Arial"/>
              </a:rPr>
              <a:t>5  Ask for another student’s result</a:t>
            </a:r>
          </a:p>
          <a:p xmlns:a="http://schemas.openxmlformats.org/drawingml/2006/main">
            <a:r>
              <a:t/>
            </a:r>
          </a:p>
          <a:p xmlns:a="http://schemas.openxmlformats.org/drawingml/2006/main">
            <a:pPr>
              <a:defRPr sz="2175" b="0">
                <a:solidFill>
                  <a:srgbClr val="CDD8CE"/>
                </a:solidFill>
                <a:latin typeface="Arial"/>
                <a:ea typeface="Arial"/>
                <a:cs typeface="Arial"/>
              </a:defRPr>
            </a:pPr>
            <a:r>
              <a:rPr sz="2175" b="0">
                <a:solidFill>
                  <a:srgbClr val="CDD8CE"/>
                </a:solidFill>
                <a:latin typeface="Arial"/>
                <a:ea typeface="Arial"/>
                <a:cs typeface="Arial"/>
              </a:rPr>
              <a:t>6  Replay Alice’s copied token</a:t>
            </a:r>
          </a:p>
        </p:txBody>
      </p:sp>
      <p:sp>
        <p:nvSpPr>
          <p:cNvPr id="7" name="">
            <a:extLst xmlns:a="http://schemas.openxmlformats.org/drawingml/2006/main">
              <a:ext uri="{FF2B5EF4-FFF2-40B4-BE49-F238E27FC236}">
                <a16:creationId xmlns:a16="http://schemas.microsoft.com/office/drawing/2014/main" id="{C29370E7-36ED-4109-8225-838197495392}"/>
              </a:ext>
            </a:extLst>
          </p:cNvPr>
          <p:cNvSpPr>
            <a:spLocks xmlns:a="http://schemas.openxmlformats.org/drawingml/2006/main" noGrp="1"/>
          </p:cNvSpPr>
          <p:nvPr/>
        </p:nvSpPr>
        <p:spPr>
          <a:xfrm xmlns:a="http://schemas.openxmlformats.org/drawingml/2006/main">
            <a:off x="609600" y="57150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6F4ED"/>
                </a:solidFill>
                <a:latin typeface="Arial"/>
                <a:ea typeface="Arial"/>
                <a:cs typeface="Arial"/>
              </a:defRPr>
            </a:pPr>
            <a:r>
              <a:rPr sz="1950" b="0">
                <a:solidFill>
                  <a:srgbClr val="F6F4ED"/>
                </a:solidFill>
                <a:latin typeface="Arial"/>
                <a:ea typeface="Arial"/>
                <a:cs typeface="Arial"/>
              </a:rPr>
              <a:t>The response student_id tells us whose attempt the server saved.</a:t>
            </a:r>
          </a:p>
        </p:txBody>
      </p:sp>
    </p:spTree>
    <p:extLst>
      <p:ext uri="{BB962C8B-B14F-4D97-AF65-F5344CB8AC3E}">
        <p14:creationId xmlns:p14="http://schemas.microsoft.com/office/powerpoint/2010/main" val="1814532897"/>
      </p:ext>
    </p:extLst>
  </p:cSld>
</p:sld>
</file>

<file path=ppt/slides/slide13.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FFB0C2A-BA22-41F0-B181-3BF1EE9A65D8}"/>
              </a:ext>
            </a:extLst>
          </p:cNvPr>
          <p:cNvSpPr>
            <a:spLocks xmlns:a="http://schemas.openxmlformats.org/drawingml/2006/main" noGrp="1"/>
          </p:cNvSpPr>
          <p:nvPr/>
        </p:nvSpPr>
        <p:spPr>
          <a:xfrm xmlns:a="http://schemas.openxmlformats.org/drawingml/2006/main">
            <a:off x="609600" y="42862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C2F"/>
                </a:solidFill>
                <a:latin typeface="Arial"/>
                <a:ea typeface="Arial"/>
                <a:cs typeface="Arial"/>
              </a:defRPr>
            </a:pPr>
            <a:r>
              <a:rPr sz="3450" b="1">
                <a:solidFill>
                  <a:srgbClr val="173C2F"/>
                </a:solidFill>
                <a:latin typeface="Arial"/>
                <a:ea typeface="Arial"/>
                <a:cs typeface="Arial"/>
              </a:rPr>
              <a:t>What the demo proves</a:t>
            </a:r>
          </a:p>
        </p:txBody>
      </p:sp>
      <p:sp>
        <p:nvSpPr>
          <p:cNvPr id="2" name="">
            <a:extLst xmlns:a="http://schemas.openxmlformats.org/drawingml/2006/main">
              <a:ext uri="{FF2B5EF4-FFF2-40B4-BE49-F238E27FC236}">
                <a16:creationId xmlns:a16="http://schemas.microsoft.com/office/drawing/2014/main" id="{651166E1-F7F7-4443-976D-18BBBB45CD1E}"/>
              </a:ext>
            </a:extLst>
          </p:cNvPr>
          <p:cNvSpPr>
            <a:spLocks xmlns:a="http://schemas.openxmlformats.org/drawingml/2006/main" noGrp="1"/>
          </p:cNvSpPr>
          <p:nvPr/>
        </p:nvSpPr>
        <p:spPr>
          <a:xfrm xmlns:a="http://schemas.openxmlformats.org/drawingml/2006/main">
            <a:off x="111442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A60"/>
                </a:solidFill>
                <a:latin typeface="Arial"/>
                <a:ea typeface="Arial"/>
                <a:cs typeface="Arial"/>
              </a:defRPr>
            </a:pPr>
            <a:r>
              <a:rPr sz="1350" b="0">
                <a:solidFill>
                  <a:srgbClr val="586A60"/>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8310875C-7DED-487E-AAB6-5ACF7C146D16}"/>
              </a:ext>
            </a:extLst>
          </p:cNvPr>
          <p:cNvSpPr>
            <a:spLocks xmlns:a="http://schemas.openxmlformats.org/drawingml/2006/main" noGrp="1"/>
          </p:cNvSpPr>
          <p:nvPr/>
        </p:nvSpPr>
        <p:spPr>
          <a:xfrm xmlns:a="http://schemas.openxmlformats.org/drawingml/2006/main">
            <a:off x="609600" y="18097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173C2F"/>
                </a:solidFill>
                <a:latin typeface="Arial"/>
                <a:ea typeface="Arial"/>
                <a:cs typeface="Arial"/>
              </a:defRPr>
            </a:pPr>
            <a:r>
              <a:rPr sz="4275" b="1">
                <a:solidFill>
                  <a:srgbClr val="173C2F"/>
                </a:solidFill>
                <a:latin typeface="Arial"/>
                <a:ea typeface="Arial"/>
                <a:cs typeface="Arial"/>
              </a:rPr>
              <a:t>The server follows the token</a:t>
            </a:r>
          </a:p>
          <a:p xmlns:a="http://schemas.openxmlformats.org/drawingml/2006/main">
            <a:pPr>
              <a:defRPr sz="4275" b="1">
                <a:solidFill>
                  <a:srgbClr val="173C2F"/>
                </a:solidFill>
                <a:latin typeface="Arial"/>
                <a:ea typeface="Arial"/>
                <a:cs typeface="Arial"/>
              </a:defRPr>
            </a:pPr>
            <a:r>
              <a:rPr sz="4275" b="1">
                <a:solidFill>
                  <a:srgbClr val="173C2F"/>
                </a:solidFill>
                <a:latin typeface="Arial"/>
                <a:ea typeface="Arial"/>
                <a:cs typeface="Arial"/>
              </a:rPr>
              <a:t>attached to each request.</a:t>
            </a:r>
          </a:p>
        </p:txBody>
      </p:sp>
      <p:sp>
        <p:nvSpPr>
          <p:cNvPr id="4" name="">
            <a:extLst xmlns:a="http://schemas.openxmlformats.org/drawingml/2006/main">
              <a:ext uri="{FF2B5EF4-FFF2-40B4-BE49-F238E27FC236}">
                <a16:creationId xmlns:a16="http://schemas.microsoft.com/office/drawing/2014/main" id="{D6E4BA90-C150-486E-8055-24EB5803849A}"/>
              </a:ext>
            </a:extLst>
          </p:cNvPr>
          <p:cNvSpPr>
            <a:spLocks xmlns:a="http://schemas.openxmlformats.org/drawingml/2006/main" noGrp="1"/>
          </p:cNvSpPr>
          <p:nvPr/>
        </p:nvSpPr>
        <p:spPr>
          <a:xfrm xmlns:a="http://schemas.openxmlformats.org/drawingml/2006/main">
            <a:off x="609600" y="3762375"/>
            <a:ext cx="1076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86A60"/>
                </a:solidFill>
                <a:latin typeface="Arial"/>
                <a:ea typeface="Arial"/>
                <a:cs typeface="Arial"/>
              </a:defRPr>
            </a:pPr>
            <a:r>
              <a:rPr sz="2175" b="0">
                <a:solidFill>
                  <a:srgbClr val="586A60"/>
                </a:solidFill>
                <a:latin typeface="Arial"/>
                <a:ea typeface="Arial"/>
                <a:cs typeface="Arial"/>
              </a:rPr>
              <a:t>A saved session explains why you stay signed in.</a:t>
            </a:r>
          </a:p>
          <a:p xmlns:a="http://schemas.openxmlformats.org/drawingml/2006/main">
            <a:r>
              <a:t/>
            </a:r>
          </a:p>
          <a:p xmlns:a="http://schemas.openxmlformats.org/drawingml/2006/main">
            <a:pPr>
              <a:defRPr sz="2175" b="0">
                <a:solidFill>
                  <a:srgbClr val="586A60"/>
                </a:solidFill>
                <a:latin typeface="Arial"/>
                <a:ea typeface="Arial"/>
                <a:cs typeface="Arial"/>
              </a:defRPr>
            </a:pPr>
            <a:r>
              <a:rPr sz="2175" b="0">
                <a:solidFill>
                  <a:srgbClr val="586A60"/>
                </a:solidFill>
                <a:latin typeface="Arial"/>
                <a:ea typeface="Arial"/>
                <a:cs typeface="Arial"/>
              </a:rPr>
              <a:t>Database policies keep one account out of another’s results.</a:t>
            </a:r>
          </a:p>
          <a:p xmlns:a="http://schemas.openxmlformats.org/drawingml/2006/main">
            <a:r>
              <a:t/>
            </a:r>
          </a:p>
          <a:p xmlns:a="http://schemas.openxmlformats.org/drawingml/2006/main">
            <a:pPr>
              <a:defRPr sz="2175" b="0">
                <a:solidFill>
                  <a:srgbClr val="586A60"/>
                </a:solidFill>
                <a:latin typeface="Arial"/>
                <a:ea typeface="Arial"/>
                <a:cs typeface="Arial"/>
              </a:defRPr>
            </a:pPr>
            <a:r>
              <a:rPr sz="2175" b="0">
                <a:solidFill>
                  <a:srgbClr val="586A60"/>
                </a:solidFill>
                <a:latin typeface="Arial"/>
                <a:ea typeface="Arial"/>
                <a:cs typeface="Arial"/>
              </a:rPr>
              <a:t>A stolen bearer can still act within its owner’s permissions.</a:t>
            </a:r>
          </a:p>
        </p:txBody>
      </p:sp>
    </p:spTree>
    <p:extLst>
      <p:ext uri="{BB962C8B-B14F-4D97-AF65-F5344CB8AC3E}">
        <p14:creationId xmlns:p14="http://schemas.microsoft.com/office/powerpoint/2010/main" val="1198165532"/>
      </p:ext>
    </p:extLst>
  </p:cSld>
</p:sld>
</file>

<file path=ppt/slides/slide14.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FE11870-93A1-44FE-9399-06F1E954E58C}"/>
              </a:ext>
            </a:extLst>
          </p:cNvPr>
          <p:cNvSpPr>
            <a:spLocks xmlns:a="http://schemas.openxmlformats.org/drawingml/2006/main" noGrp="1"/>
          </p:cNvSpPr>
          <p:nvPr/>
        </p:nvSpPr>
        <p:spPr>
          <a:xfrm xmlns:a="http://schemas.openxmlformats.org/drawingml/2006/main">
            <a:off x="609600" y="42862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C2F"/>
                </a:solidFill>
                <a:latin typeface="Arial"/>
                <a:ea typeface="Arial"/>
                <a:cs typeface="Arial"/>
              </a:defRPr>
            </a:pPr>
            <a:r>
              <a:rPr sz="3450" b="1">
                <a:solidFill>
                  <a:srgbClr val="173C2F"/>
                </a:solidFill>
                <a:latin typeface="Arial"/>
                <a:ea typeface="Arial"/>
                <a:cs typeface="Arial"/>
              </a:rPr>
              <a:t>Assignment coverage</a:t>
            </a:r>
          </a:p>
        </p:txBody>
      </p:sp>
      <p:sp>
        <p:nvSpPr>
          <p:cNvPr id="2" name="">
            <a:extLst xmlns:a="http://schemas.openxmlformats.org/drawingml/2006/main">
              <a:ext uri="{FF2B5EF4-FFF2-40B4-BE49-F238E27FC236}">
                <a16:creationId xmlns:a16="http://schemas.microsoft.com/office/drawing/2014/main" id="{7678E6EA-20B7-4708-90B3-187A51CC86BA}"/>
              </a:ext>
            </a:extLst>
          </p:cNvPr>
          <p:cNvSpPr>
            <a:spLocks xmlns:a="http://schemas.openxmlformats.org/drawingml/2006/main" noGrp="1"/>
          </p:cNvSpPr>
          <p:nvPr/>
        </p:nvSpPr>
        <p:spPr>
          <a:xfrm xmlns:a="http://schemas.openxmlformats.org/drawingml/2006/main">
            <a:off x="111442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A60"/>
                </a:solidFill>
                <a:latin typeface="Arial"/>
                <a:ea typeface="Arial"/>
                <a:cs typeface="Arial"/>
              </a:defRPr>
            </a:pPr>
            <a:r>
              <a:rPr sz="1350" b="0">
                <a:solidFill>
                  <a:srgbClr val="586A60"/>
                </a:solidFill>
                <a:latin typeface="Arial"/>
                <a:ea typeface="Arial"/>
                <a:cs typeface="Arial"/>
              </a:rPr>
              <a:t>14</a:t>
            </a:r>
          </a:p>
        </p:txBody>
      </p:sp>
      <p:graphicFrame>
        <p:nvGraphicFramePr>
          <p:cNvPr id="7" name=""/>
          <p:cNvGraphicFramePr/>
          <p:nvPr/>
        </p:nvGraphicFramePr>
        <p:xfrm>
          <a:off xmlns:a="http://schemas.openxmlformats.org/drawingml/2006/main" x="609600" y="1638300"/>
          <a:ext xmlns:a="http://schemas.openxmlformats.org/drawingml/2006/main" cx="10972800" cy="4038600"/>
        </p:xfrm>
        <a:graphic xmlns:a="http://schemas.openxmlformats.org/drawingml/2006/main">
          <a:graphicData uri="http://schemas.openxmlformats.org/drawingml/2006/table">
            <a:tbl>
              <a:tblPr/>
              <a:tblGrid>
                <a:gridCol w="4857750"/>
                <a:gridCol w="6115050"/>
              </a:tblGrid>
              <a:tr h="504825">
                <a:tc>
                  <a:txBody>
                    <a:bodyPr>
                      <a:noAutofit/>
                    </a:bodyPr>
                    <a:lstStyle/>
                    <a:p>
                      <a:r>
                        <a:rPr sz="1800" b="1">
                          <a:solidFill>
                            <a:srgbClr val="FFFFFF"/>
                          </a:solidFill>
                          <a:latin typeface="Arial"/>
                          <a:ea typeface="Arial"/>
                          <a:cs typeface="Arial"/>
                        </a:rPr>
                        <a:t>Requirement</a:t>
                      </a:r>
                    </a:p>
                  </a:txBody>
                  <a:tcPr marL="91440" marR="91440" marT="45720" marB="45720">
                    <a:solidFill>
                      <a:srgbClr val="173C2F"/>
                    </a:solidFill>
                  </a:tcPr>
                </a:tc>
                <a:tc>
                  <a:txBody>
                    <a:bodyPr>
                      <a:noAutofit/>
                    </a:bodyPr>
                    <a:lstStyle/>
                    <a:p>
                      <a:r>
                        <a:rPr sz="1800" b="1">
                          <a:solidFill>
                            <a:srgbClr val="FFFFFF"/>
                          </a:solidFill>
                          <a:latin typeface="Arial"/>
                          <a:ea typeface="Arial"/>
                          <a:cs typeface="Arial"/>
                        </a:rPr>
                        <a:t>Where we cover it</a:t>
                      </a:r>
                    </a:p>
                  </a:txBody>
                  <a:tcPr marL="91440" marR="91440" marT="45720" marB="45720">
                    <a:solidFill>
                      <a:srgbClr val="173C2F"/>
                    </a:solidFill>
                  </a:tcPr>
                </a:tc>
              </a:tr>
              <a:tr h="504825">
                <a:tc>
                  <a:txBody>
                    <a:bodyPr>
                      <a:noAutofit/>
                    </a:bodyPr>
                    <a:lstStyle/>
                    <a:p>
                      <a:r>
                        <a:rPr sz="1800" b="0">
                          <a:solidFill>
                            <a:srgbClr val="173C2F"/>
                          </a:solidFill>
                          <a:latin typeface="Arial"/>
                          <a:ea typeface="Arial"/>
                          <a:cs typeface="Arial"/>
                        </a:rPr>
                        <a:t>Password handling</a:t>
                      </a:r>
                    </a:p>
                  </a:txBody>
                  <a:tcPr marL="91440" marR="91440" marT="45720" marB="45720">
                    <a:solidFill>
                      <a:srgbClr val="FFFFFF"/>
                    </a:solidFill>
                  </a:tcPr>
                </a:tc>
                <a:tc>
                  <a:txBody>
                    <a:bodyPr>
                      <a:noAutofit/>
                    </a:bodyPr>
                    <a:lstStyle/>
                    <a:p>
                      <a:r>
                        <a:rPr sz="1800" b="0">
                          <a:solidFill>
                            <a:srgbClr val="173C2F"/>
                          </a:solidFill>
                          <a:latin typeface="Arial"/>
                          <a:ea typeface="Arial"/>
                          <a:cs typeface="Arial"/>
                        </a:rPr>
                        <a:t>HTTPS request and hashing explanation</a:t>
                      </a:r>
                    </a:p>
                  </a:txBody>
                  <a:tcPr marL="91440" marR="91440" marT="45720" marB="45720">
                    <a:solidFill>
                      <a:srgbClr val="FFFFFF"/>
                    </a:solidFill>
                  </a:tcPr>
                </a:tc>
              </a:tr>
              <a:tr h="504825">
                <a:tc>
                  <a:txBody>
                    <a:bodyPr>
                      <a:noAutofit/>
                    </a:bodyPr>
                    <a:lstStyle/>
                    <a:p>
                      <a:r>
                        <a:rPr sz="1800" b="0">
                          <a:solidFill>
                            <a:srgbClr val="173C2F"/>
                          </a:solidFill>
                          <a:latin typeface="Arial"/>
                          <a:ea typeface="Arial"/>
                          <a:cs typeface="Arial"/>
                        </a:rPr>
                        <a:t>Sessions and tokens</a:t>
                      </a:r>
                    </a:p>
                  </a:txBody>
                  <a:tcPr marL="91440" marR="91440" marT="45720" marB="45720">
                    <a:solidFill>
                      <a:srgbClr val="EDF1EA"/>
                    </a:solidFill>
                  </a:tcPr>
                </a:tc>
                <a:tc>
                  <a:txBody>
                    <a:bodyPr>
                      <a:noAutofit/>
                    </a:bodyPr>
                    <a:lstStyle/>
                    <a:p>
                      <a:r>
                        <a:rPr sz="1800" b="0">
                          <a:solidFill>
                            <a:srgbClr val="173C2F"/>
                          </a:solidFill>
                          <a:latin typeface="Arial"/>
                          <a:ea typeface="Arial"/>
                          <a:cs typeface="Arial"/>
                        </a:rPr>
                        <a:t>Access token, refresh token and expiry</a:t>
                      </a:r>
                    </a:p>
                  </a:txBody>
                  <a:tcPr marL="91440" marR="91440" marT="45720" marB="45720">
                    <a:solidFill>
                      <a:srgbClr val="EDF1EA"/>
                    </a:solidFill>
                  </a:tcPr>
                </a:tc>
              </a:tr>
              <a:tr h="504825">
                <a:tc>
                  <a:txBody>
                    <a:bodyPr>
                      <a:noAutofit/>
                    </a:bodyPr>
                    <a:lstStyle/>
                    <a:p>
                      <a:r>
                        <a:rPr sz="1800" b="0">
                          <a:solidFill>
                            <a:srgbClr val="173C2F"/>
                          </a:solidFill>
                          <a:latin typeface="Arial"/>
                          <a:ea typeface="Arial"/>
                          <a:cs typeface="Arial"/>
                        </a:rPr>
                        <a:t>Storage and remembered login</a:t>
                      </a:r>
                    </a:p>
                  </a:txBody>
                  <a:tcPr marL="91440" marR="91440" marT="45720" marB="45720">
                    <a:solidFill>
                      <a:srgbClr val="FFFFFF"/>
                    </a:solidFill>
                  </a:tcPr>
                </a:tc>
                <a:tc>
                  <a:txBody>
                    <a:bodyPr>
                      <a:noAutofit/>
                    </a:bodyPr>
                    <a:lstStyle/>
                    <a:p>
                      <a:r>
                        <a:rPr sz="1800" b="0">
                          <a:solidFill>
                            <a:srgbClr val="173C2F"/>
                          </a:solidFill>
                          <a:latin typeface="Arial"/>
                          <a:ea typeface="Arial"/>
                          <a:cs typeface="Arial"/>
                        </a:rPr>
                        <a:t>DevTools localStorage and page reload</a:t>
                      </a:r>
                    </a:p>
                  </a:txBody>
                  <a:tcPr marL="91440" marR="91440" marT="45720" marB="45720">
                    <a:solidFill>
                      <a:srgbClr val="FFFFFF"/>
                    </a:solidFill>
                  </a:tcPr>
                </a:tc>
              </a:tr>
              <a:tr h="504825">
                <a:tc>
                  <a:txBody>
                    <a:bodyPr>
                      <a:noAutofit/>
                    </a:bodyPr>
                    <a:lstStyle/>
                    <a:p>
                      <a:r>
                        <a:rPr sz="1800" b="0">
                          <a:solidFill>
                            <a:srgbClr val="173C2F"/>
                          </a:solidFill>
                          <a:latin typeface="Arial"/>
                          <a:ea typeface="Arial"/>
                          <a:cs typeface="Arial"/>
                        </a:rPr>
                        <a:t>Find and decode a token</a:t>
                      </a:r>
                    </a:p>
                  </a:txBody>
                  <a:tcPr marL="91440" marR="91440" marT="45720" marB="45720">
                    <a:solidFill>
                      <a:srgbClr val="EDF1EA"/>
                    </a:solidFill>
                  </a:tcPr>
                </a:tc>
                <a:tc>
                  <a:txBody>
                    <a:bodyPr>
                      <a:noAutofit/>
                    </a:bodyPr>
                    <a:lstStyle/>
                    <a:p>
                      <a:r>
                        <a:rPr sz="1800" b="0">
                          <a:solidFill>
                            <a:srgbClr val="173C2F"/>
                          </a:solidFill>
                          <a:latin typeface="Arial"/>
                          <a:ea typeface="Arial"/>
                          <a:cs typeface="Arial"/>
                        </a:rPr>
                        <a:t>Swagger’s local claims viewer</a:t>
                      </a:r>
                    </a:p>
                  </a:txBody>
                  <a:tcPr marL="91440" marR="91440" marT="45720" marB="45720">
                    <a:solidFill>
                      <a:srgbClr val="EDF1EA"/>
                    </a:solidFill>
                  </a:tcPr>
                </a:tc>
              </a:tr>
              <a:tr h="504825">
                <a:tc>
                  <a:txBody>
                    <a:bodyPr>
                      <a:noAutofit/>
                    </a:bodyPr>
                    <a:lstStyle/>
                    <a:p>
                      <a:r>
                        <a:rPr sz="1800" b="0">
                          <a:solidFill>
                            <a:srgbClr val="173C2F"/>
                          </a:solidFill>
                          <a:latin typeface="Arial"/>
                          <a:ea typeface="Arial"/>
                          <a:cs typeface="Arial"/>
                        </a:rPr>
                        <a:t>Sign in with Google</a:t>
                      </a:r>
                    </a:p>
                  </a:txBody>
                  <a:tcPr marL="91440" marR="91440" marT="45720" marB="45720">
                    <a:solidFill>
                      <a:srgbClr val="FFFFFF"/>
                    </a:solidFill>
                  </a:tcPr>
                </a:tc>
                <a:tc>
                  <a:txBody>
                    <a:bodyPr>
                      <a:noAutofit/>
                    </a:bodyPr>
                    <a:lstStyle/>
                    <a:p>
                      <a:r>
                        <a:rPr sz="1800" b="0">
                          <a:solidFill>
                            <a:srgbClr val="173C2F"/>
                          </a:solidFill>
                          <a:latin typeface="Arial"/>
                          <a:ea typeface="Arial"/>
                          <a:cs typeface="Arial"/>
                        </a:rPr>
                        <a:t>Conceptual explanation for the teammate</a:t>
                      </a:r>
                    </a:p>
                  </a:txBody>
                  <a:tcPr marL="91440" marR="91440" marT="45720" marB="45720">
                    <a:solidFill>
                      <a:srgbClr val="FFFFFF"/>
                    </a:solidFill>
                  </a:tcPr>
                </a:tc>
              </a:tr>
              <a:tr h="504825">
                <a:tc>
                  <a:txBody>
                    <a:bodyPr>
                      <a:noAutofit/>
                    </a:bodyPr>
                    <a:lstStyle/>
                    <a:p>
                      <a:r>
                        <a:rPr sz="1800" b="0">
                          <a:solidFill>
                            <a:srgbClr val="173C2F"/>
                          </a:solidFill>
                          <a:latin typeface="Arial"/>
                          <a:ea typeface="Arial"/>
                          <a:cs typeface="Arial"/>
                        </a:rPr>
                        <a:t>Stolen-token abilities and limits</a:t>
                      </a:r>
                    </a:p>
                  </a:txBody>
                  <a:tcPr marL="91440" marR="91440" marT="45720" marB="45720">
                    <a:solidFill>
                      <a:srgbClr val="EDF1EA"/>
                    </a:solidFill>
                  </a:tcPr>
                </a:tc>
                <a:tc>
                  <a:txBody>
                    <a:bodyPr>
                      <a:noAutofit/>
                    </a:bodyPr>
                    <a:lstStyle/>
                    <a:p>
                      <a:r>
                        <a:rPr sz="1800" b="0">
                          <a:solidFill>
                            <a:srgbClr val="173C2F"/>
                          </a:solidFill>
                          <a:latin typeface="Arial"/>
                          <a:ea typeface="Arial"/>
                          <a:cs typeface="Arial"/>
                        </a:rPr>
                        <a:t>Read, submit, cross-user denial and logout</a:t>
                      </a:r>
                    </a:p>
                  </a:txBody>
                  <a:tcPr marL="91440" marR="91440" marT="45720" marB="45720">
                    <a:solidFill>
                      <a:srgbClr val="EDF1EA"/>
                    </a:solidFill>
                  </a:tcPr>
                </a:tc>
              </a:tr>
              <a:tr h="504825">
                <a:tc>
                  <a:txBody>
                    <a:bodyPr>
                      <a:noAutofit/>
                    </a:bodyPr>
                    <a:lstStyle/>
                    <a:p>
                      <a:r>
                        <a:rPr sz="1800" b="0">
                          <a:solidFill>
                            <a:srgbClr val="173C2F"/>
                          </a:solidFill>
                          <a:latin typeface="Arial"/>
                          <a:ea typeface="Arial"/>
                          <a:cs typeface="Arial"/>
                        </a:rPr>
                        <a:t>Concrete working example</a:t>
                      </a:r>
                    </a:p>
                  </a:txBody>
                  <a:tcPr marL="91440" marR="91440" marT="45720" marB="45720">
                    <a:solidFill>
                      <a:srgbClr val="FFFFFF"/>
                    </a:solidFill>
                  </a:tcPr>
                </a:tc>
                <a:tc>
                  <a:txBody>
                    <a:bodyPr>
                      <a:noAutofit/>
                    </a:bodyPr>
                    <a:lstStyle/>
                    <a:p>
                      <a:r>
                        <a:rPr sz="1800" b="0">
                          <a:solidFill>
                            <a:srgbClr val="173C2F"/>
                          </a:solidFill>
                          <a:latin typeface="Arial"/>
                          <a:ea typeface="Arial"/>
                          <a:cs typeface="Arial"/>
                        </a:rPr>
                        <a:t>Real Supabase student portal and Swagger</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E250306-59EC-4A8F-A0D4-BC36BDF52E2F}"/>
              </a:ext>
            </a:extLst>
          </p:cNvPr>
          <p:cNvSpPr>
            <a:spLocks xmlns:a="http://schemas.openxmlformats.org/drawingml/2006/main" noGrp="1"/>
          </p:cNvSpPr>
          <p:nvPr/>
        </p:nvSpPr>
        <p:spPr>
          <a:xfrm xmlns:a="http://schemas.openxmlformats.org/drawingml/2006/main">
            <a:off x="609600" y="59245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86A60"/>
                </a:solidFill>
                <a:latin typeface="Arial"/>
                <a:ea typeface="Arial"/>
                <a:cs typeface="Arial"/>
              </a:defRPr>
            </a:pPr>
            <a:r>
              <a:rPr sz="1575" b="0">
                <a:solidFill>
                  <a:srgbClr val="586A60"/>
                </a:solidFill>
                <a:latin typeface="Arial"/>
                <a:ea typeface="Arial"/>
                <a:cs typeface="Arial"/>
              </a:rPr>
              <a:t>Hashing and Google sign-in are explanations. The student API demonstrations run live.</a:t>
            </a:r>
          </a:p>
        </p:txBody>
      </p:sp>
    </p:spTree>
    <p:extLst>
      <p:ext uri="{BB962C8B-B14F-4D97-AF65-F5344CB8AC3E}">
        <p14:creationId xmlns:p14="http://schemas.microsoft.com/office/powerpoint/2010/main" val="619029279"/>
      </p:ext>
    </p:extLst>
  </p:cSld>
</p:sld>
</file>

<file path=ppt/slides/slide15.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F166A64-6314-49F4-8C17-B9704E6FB776}"/>
              </a:ext>
            </a:extLst>
          </p:cNvPr>
          <p:cNvSpPr>
            <a:spLocks xmlns:a="http://schemas.openxmlformats.org/drawingml/2006/main" noGrp="1"/>
          </p:cNvSpPr>
          <p:nvPr/>
        </p:nvSpPr>
        <p:spPr>
          <a:xfrm xmlns:a="http://schemas.openxmlformats.org/drawingml/2006/main">
            <a:off x="609600" y="42862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C2F"/>
                </a:solidFill>
                <a:latin typeface="Arial"/>
                <a:ea typeface="Arial"/>
                <a:cs typeface="Arial"/>
              </a:defRPr>
            </a:pPr>
            <a:r>
              <a:rPr sz="3450" b="1">
                <a:solidFill>
                  <a:srgbClr val="173C2F"/>
                </a:solidFill>
                <a:latin typeface="Arial"/>
                <a:ea typeface="Arial"/>
                <a:cs typeface="Arial"/>
              </a:rPr>
              <a:t>Sources</a:t>
            </a:r>
          </a:p>
        </p:txBody>
      </p:sp>
      <p:sp>
        <p:nvSpPr>
          <p:cNvPr id="2" name="">
            <a:extLst xmlns:a="http://schemas.openxmlformats.org/drawingml/2006/main">
              <a:ext uri="{FF2B5EF4-FFF2-40B4-BE49-F238E27FC236}">
                <a16:creationId xmlns:a16="http://schemas.microsoft.com/office/drawing/2014/main" id="{8AEA9DA8-54F8-43C7-9334-A11ADE28E12A}"/>
              </a:ext>
            </a:extLst>
          </p:cNvPr>
          <p:cNvSpPr>
            <a:spLocks xmlns:a="http://schemas.openxmlformats.org/drawingml/2006/main" noGrp="1"/>
          </p:cNvSpPr>
          <p:nvPr/>
        </p:nvSpPr>
        <p:spPr>
          <a:xfrm xmlns:a="http://schemas.openxmlformats.org/drawingml/2006/main">
            <a:off x="111442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A60"/>
                </a:solidFill>
                <a:latin typeface="Arial"/>
                <a:ea typeface="Arial"/>
                <a:cs typeface="Arial"/>
              </a:defRPr>
            </a:pPr>
            <a:r>
              <a:rPr sz="1350" b="0">
                <a:solidFill>
                  <a:srgbClr val="586A60"/>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B809CC0E-1C85-4B28-8E6E-C42EEC96D0C1}"/>
              </a:ext>
            </a:extLst>
          </p:cNvPr>
          <p:cNvSpPr>
            <a:spLocks xmlns:a="http://schemas.openxmlformats.org/drawingml/2006/main" noGrp="1"/>
          </p:cNvSpPr>
          <p:nvPr/>
        </p:nvSpPr>
        <p:spPr>
          <a:xfrm xmlns:a="http://schemas.openxmlformats.org/drawingml/2006/main">
            <a:off x="609600" y="1743075"/>
            <a:ext cx="295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3C2F"/>
                </a:solidFill>
                <a:latin typeface="Arial"/>
                <a:ea typeface="Arial"/>
                <a:cs typeface="Arial"/>
              </a:defRPr>
            </a:pPr>
            <a:r>
              <a:rPr sz="2025" b="1">
                <a:solidFill>
                  <a:srgbClr val="173C2F"/>
                </a:solidFill>
                <a:latin typeface="Arial"/>
                <a:ea typeface="Arial"/>
                <a:cs typeface="Arial"/>
              </a:rPr>
              <a:t>Supabase Auth</a:t>
            </a:r>
          </a:p>
        </p:txBody>
      </p:sp>
      <p:sp>
        <p:nvSpPr>
          <p:cNvPr id="4" name="">
            <a:extLst xmlns:a="http://schemas.openxmlformats.org/drawingml/2006/main">
              <a:ext uri="{FF2B5EF4-FFF2-40B4-BE49-F238E27FC236}">
                <a16:creationId xmlns:a16="http://schemas.microsoft.com/office/drawing/2014/main" id="{5CC70100-1218-44D2-90FD-3C9AF6BA1504}"/>
              </a:ext>
            </a:extLst>
          </p:cNvPr>
          <p:cNvSpPr>
            <a:spLocks xmlns:a="http://schemas.openxmlformats.org/drawingml/2006/main" noGrp="1"/>
          </p:cNvSpPr>
          <p:nvPr/>
        </p:nvSpPr>
        <p:spPr>
          <a:xfrm xmlns:a="http://schemas.openxmlformats.org/drawingml/2006/main">
            <a:off x="4000500" y="1743075"/>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86A60"/>
                </a:solidFill>
                <a:latin typeface="Arial"/>
                <a:ea typeface="Arial"/>
                <a:cs typeface="Arial"/>
              </a:defRPr>
            </a:pPr>
            <a:r>
              <a:rPr sz="1950" b="0">
                <a:solidFill>
                  <a:srgbClr val="586A60"/>
                </a:solidFill>
                <a:latin typeface="Arial"/>
                <a:ea typeface="Arial"/>
                <a:cs typeface="Arial"/>
              </a:rPr>
              <a:t>Password security, sessions and sign-out</a:t>
            </a:r>
          </a:p>
        </p:txBody>
      </p:sp>
      <p:sp>
        <p:nvSpPr>
          <p:cNvPr id="5" name="">
            <a:extLst xmlns:a="http://schemas.openxmlformats.org/drawingml/2006/main">
              <a:ext uri="{FF2B5EF4-FFF2-40B4-BE49-F238E27FC236}">
                <a16:creationId xmlns:a16="http://schemas.microsoft.com/office/drawing/2014/main" id="{9C27DDE3-A79F-45DF-A08D-0111F1E0A6BB}"/>
              </a:ext>
            </a:extLst>
          </p:cNvPr>
          <p:cNvSpPr>
            <a:spLocks xmlns:a="http://schemas.openxmlformats.org/drawingml/2006/main" noGrp="1"/>
          </p:cNvSpPr>
          <p:nvPr/>
        </p:nvSpPr>
        <p:spPr>
          <a:xfrm xmlns:a="http://schemas.openxmlformats.org/drawingml/2006/main">
            <a:off x="609600" y="2524125"/>
            <a:ext cx="295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3C2F"/>
                </a:solidFill>
                <a:latin typeface="Arial"/>
                <a:ea typeface="Arial"/>
                <a:cs typeface="Arial"/>
              </a:defRPr>
            </a:pPr>
            <a:r>
              <a:rPr sz="2025" b="1">
                <a:solidFill>
                  <a:srgbClr val="173C2F"/>
                </a:solidFill>
                <a:latin typeface="Arial"/>
                <a:ea typeface="Arial"/>
                <a:cs typeface="Arial"/>
              </a:rPr>
              <a:t>Supabase JWT</a:t>
            </a:r>
          </a:p>
        </p:txBody>
      </p:sp>
      <p:sp>
        <p:nvSpPr>
          <p:cNvPr id="6" name="">
            <a:extLst xmlns:a="http://schemas.openxmlformats.org/drawingml/2006/main">
              <a:ext uri="{FF2B5EF4-FFF2-40B4-BE49-F238E27FC236}">
                <a16:creationId xmlns:a16="http://schemas.microsoft.com/office/drawing/2014/main" id="{F4565127-73C1-4BD9-835C-DFC2FD3B60C5}"/>
              </a:ext>
            </a:extLst>
          </p:cNvPr>
          <p:cNvSpPr>
            <a:spLocks xmlns:a="http://schemas.openxmlformats.org/drawingml/2006/main" noGrp="1"/>
          </p:cNvSpPr>
          <p:nvPr/>
        </p:nvSpPr>
        <p:spPr>
          <a:xfrm xmlns:a="http://schemas.openxmlformats.org/drawingml/2006/main">
            <a:off x="4000500" y="2524125"/>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86A60"/>
                </a:solidFill>
                <a:latin typeface="Arial"/>
                <a:ea typeface="Arial"/>
                <a:cs typeface="Arial"/>
              </a:defRPr>
            </a:pPr>
            <a:r>
              <a:rPr sz="1950" b="0">
                <a:solidFill>
                  <a:srgbClr val="586A60"/>
                </a:solidFill>
                <a:latin typeface="Arial"/>
                <a:ea typeface="Arial"/>
                <a:cs typeface="Arial"/>
              </a:rPr>
              <a:t>Claims reference and signing keys</a:t>
            </a:r>
          </a:p>
        </p:txBody>
      </p:sp>
      <p:sp>
        <p:nvSpPr>
          <p:cNvPr id="7" name="">
            <a:extLst xmlns:a="http://schemas.openxmlformats.org/drawingml/2006/main">
              <a:ext uri="{FF2B5EF4-FFF2-40B4-BE49-F238E27FC236}">
                <a16:creationId xmlns:a16="http://schemas.microsoft.com/office/drawing/2014/main" id="{1239A822-FB70-4247-BD06-145119CDBE01}"/>
              </a:ext>
            </a:extLst>
          </p:cNvPr>
          <p:cNvSpPr>
            <a:spLocks xmlns:a="http://schemas.openxmlformats.org/drawingml/2006/main" noGrp="1"/>
          </p:cNvSpPr>
          <p:nvPr/>
        </p:nvSpPr>
        <p:spPr>
          <a:xfrm xmlns:a="http://schemas.openxmlformats.org/drawingml/2006/main">
            <a:off x="609600" y="3305175"/>
            <a:ext cx="295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3C2F"/>
                </a:solidFill>
                <a:latin typeface="Arial"/>
                <a:ea typeface="Arial"/>
                <a:cs typeface="Arial"/>
              </a:defRPr>
            </a:pPr>
            <a:r>
              <a:rPr sz="2025" b="1">
                <a:solidFill>
                  <a:srgbClr val="173C2F"/>
                </a:solidFill>
                <a:latin typeface="Arial"/>
                <a:ea typeface="Arial"/>
                <a:cs typeface="Arial"/>
              </a:rPr>
              <a:t>Supabase Database</a:t>
            </a:r>
          </a:p>
        </p:txBody>
      </p:sp>
      <p:sp>
        <p:nvSpPr>
          <p:cNvPr id="8" name="">
            <a:extLst xmlns:a="http://schemas.openxmlformats.org/drawingml/2006/main">
              <a:ext uri="{FF2B5EF4-FFF2-40B4-BE49-F238E27FC236}">
                <a16:creationId xmlns:a16="http://schemas.microsoft.com/office/drawing/2014/main" id="{B96113AA-D24A-4006-8CE6-3D7AAA23B893}"/>
              </a:ext>
            </a:extLst>
          </p:cNvPr>
          <p:cNvSpPr>
            <a:spLocks xmlns:a="http://schemas.openxmlformats.org/drawingml/2006/main" noGrp="1"/>
          </p:cNvSpPr>
          <p:nvPr/>
        </p:nvSpPr>
        <p:spPr>
          <a:xfrm xmlns:a="http://schemas.openxmlformats.org/drawingml/2006/main">
            <a:off x="4000500" y="3305175"/>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86A60"/>
                </a:solidFill>
                <a:latin typeface="Arial"/>
                <a:ea typeface="Arial"/>
                <a:cs typeface="Arial"/>
              </a:defRPr>
            </a:pPr>
            <a:r>
              <a:rPr sz="1950" b="0">
                <a:solidFill>
                  <a:srgbClr val="586A60"/>
                </a:solidFill>
                <a:latin typeface="Arial"/>
                <a:ea typeface="Arial"/>
                <a:cs typeface="Arial"/>
              </a:rPr>
              <a:t>Row-level security</a:t>
            </a:r>
          </a:p>
        </p:txBody>
      </p:sp>
      <p:sp>
        <p:nvSpPr>
          <p:cNvPr id="9" name="">
            <a:extLst xmlns:a="http://schemas.openxmlformats.org/drawingml/2006/main">
              <a:ext uri="{FF2B5EF4-FFF2-40B4-BE49-F238E27FC236}">
                <a16:creationId xmlns:a16="http://schemas.microsoft.com/office/drawing/2014/main" id="{F451F2D6-AC92-4D44-8750-8E481F9A0451}"/>
              </a:ext>
            </a:extLst>
          </p:cNvPr>
          <p:cNvSpPr>
            <a:spLocks xmlns:a="http://schemas.openxmlformats.org/drawingml/2006/main" noGrp="1"/>
          </p:cNvSpPr>
          <p:nvPr/>
        </p:nvSpPr>
        <p:spPr>
          <a:xfrm xmlns:a="http://schemas.openxmlformats.org/drawingml/2006/main">
            <a:off x="609600" y="4086225"/>
            <a:ext cx="295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3C2F"/>
                </a:solidFill>
                <a:latin typeface="Arial"/>
                <a:ea typeface="Arial"/>
                <a:cs typeface="Arial"/>
              </a:defRPr>
            </a:pPr>
            <a:r>
              <a:rPr sz="2025" b="1">
                <a:solidFill>
                  <a:srgbClr val="173C2F"/>
                </a:solidFill>
                <a:latin typeface="Arial"/>
                <a:ea typeface="Arial"/>
                <a:cs typeface="Arial"/>
              </a:rPr>
              <a:t>Google Identity</a:t>
            </a:r>
          </a:p>
        </p:txBody>
      </p:sp>
      <p:sp>
        <p:nvSpPr>
          <p:cNvPr id="10" name="">
            <a:extLst xmlns:a="http://schemas.openxmlformats.org/drawingml/2006/main">
              <a:ext uri="{FF2B5EF4-FFF2-40B4-BE49-F238E27FC236}">
                <a16:creationId xmlns:a16="http://schemas.microsoft.com/office/drawing/2014/main" id="{42C702A1-992A-43A3-A03A-2D3369E4C1DC}"/>
              </a:ext>
            </a:extLst>
          </p:cNvPr>
          <p:cNvSpPr>
            <a:spLocks xmlns:a="http://schemas.openxmlformats.org/drawingml/2006/main" noGrp="1"/>
          </p:cNvSpPr>
          <p:nvPr/>
        </p:nvSpPr>
        <p:spPr>
          <a:xfrm xmlns:a="http://schemas.openxmlformats.org/drawingml/2006/main">
            <a:off x="4000500" y="4086225"/>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86A60"/>
                </a:solidFill>
                <a:latin typeface="Arial"/>
                <a:ea typeface="Arial"/>
                <a:cs typeface="Arial"/>
              </a:defRPr>
            </a:pPr>
            <a:r>
              <a:rPr sz="1950" b="0">
                <a:solidFill>
                  <a:srgbClr val="586A60"/>
                </a:solidFill>
                <a:latin typeface="Arial"/>
                <a:ea typeface="Arial"/>
                <a:cs typeface="Arial"/>
              </a:rPr>
              <a:t>OpenID Connect and Supabase Google sign-in</a:t>
            </a:r>
          </a:p>
        </p:txBody>
      </p:sp>
      <p:sp>
        <p:nvSpPr>
          <p:cNvPr id="11" name="">
            <a:extLst xmlns:a="http://schemas.openxmlformats.org/drawingml/2006/main">
              <a:ext uri="{FF2B5EF4-FFF2-40B4-BE49-F238E27FC236}">
                <a16:creationId xmlns:a16="http://schemas.microsoft.com/office/drawing/2014/main" id="{B6AF7B38-58F5-44CA-986E-A1C280C8D885}"/>
              </a:ext>
            </a:extLst>
          </p:cNvPr>
          <p:cNvSpPr>
            <a:spLocks xmlns:a="http://schemas.openxmlformats.org/drawingml/2006/main" noGrp="1"/>
          </p:cNvSpPr>
          <p:nvPr/>
        </p:nvSpPr>
        <p:spPr>
          <a:xfrm xmlns:a="http://schemas.openxmlformats.org/drawingml/2006/main">
            <a:off x="609600" y="4867275"/>
            <a:ext cx="295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3C2F"/>
                </a:solidFill>
                <a:latin typeface="Arial"/>
                <a:ea typeface="Arial"/>
                <a:cs typeface="Arial"/>
              </a:defRPr>
            </a:pPr>
            <a:r>
              <a:rPr sz="2025" b="1">
                <a:solidFill>
                  <a:srgbClr val="173C2F"/>
                </a:solidFill>
                <a:latin typeface="Arial"/>
                <a:ea typeface="Arial"/>
                <a:cs typeface="Arial"/>
              </a:rPr>
              <a:t>Our demo</a:t>
            </a:r>
          </a:p>
        </p:txBody>
      </p:sp>
      <p:sp>
        <p:nvSpPr>
          <p:cNvPr id="12" name="">
            <a:extLst xmlns:a="http://schemas.openxmlformats.org/drawingml/2006/main">
              <a:ext uri="{FF2B5EF4-FFF2-40B4-BE49-F238E27FC236}">
                <a16:creationId xmlns:a16="http://schemas.microsoft.com/office/drawing/2014/main" id="{DD5F3EE9-2DC8-4837-9483-7173B4633322}"/>
              </a:ext>
            </a:extLst>
          </p:cNvPr>
          <p:cNvSpPr>
            <a:spLocks xmlns:a="http://schemas.openxmlformats.org/drawingml/2006/main" noGrp="1"/>
          </p:cNvSpPr>
          <p:nvPr/>
        </p:nvSpPr>
        <p:spPr>
          <a:xfrm xmlns:a="http://schemas.openxmlformats.org/drawingml/2006/main">
            <a:off x="4000500" y="4867275"/>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86A60"/>
                </a:solidFill>
                <a:latin typeface="Arial"/>
                <a:ea typeface="Arial"/>
                <a:cs typeface="Arial"/>
              </a:defRPr>
            </a:pPr>
            <a:r>
              <a:rPr sz="1950" b="0">
                <a:solidFill>
                  <a:srgbClr val="586A60"/>
                </a:solidFill>
                <a:latin typeface="Arial"/>
                <a:ea typeface="Arial"/>
                <a:cs typeface="Arial"/>
              </a:rPr>
              <a:t>Source code and observed API responses</a:t>
            </a:r>
          </a:p>
        </p:txBody>
      </p:sp>
      <p:sp>
        <p:nvSpPr>
          <p:cNvPr id="13" name="">
            <a:extLst xmlns:a="http://schemas.openxmlformats.org/drawingml/2006/main">
              <a:ext uri="{FF2B5EF4-FFF2-40B4-BE49-F238E27FC236}">
                <a16:creationId xmlns:a16="http://schemas.microsoft.com/office/drawing/2014/main" id="{965A17B5-99A1-4761-A587-74EEA01BF0DE}"/>
              </a:ext>
            </a:extLst>
          </p:cNvPr>
          <p:cNvSpPr>
            <a:spLocks xmlns:a="http://schemas.openxmlformats.org/drawingml/2006/main" noGrp="1"/>
          </p:cNvSpPr>
          <p:nvPr/>
        </p:nvSpPr>
        <p:spPr>
          <a:xfrm xmlns:a="http://schemas.openxmlformats.org/drawingml/2006/main">
            <a:off x="609600" y="59817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86A60"/>
                </a:solidFill>
                <a:latin typeface="Arial"/>
                <a:ea typeface="Arial"/>
                <a:cs typeface="Arial"/>
              </a:defRPr>
            </a:pPr>
            <a:r>
              <a:rPr sz="1725" b="0">
                <a:solidFill>
                  <a:srgbClr val="586A60"/>
                </a:solidFill>
                <a:latin typeface="Arial"/>
                <a:ea typeface="Arial"/>
                <a:cs typeface="Arial"/>
              </a:rPr>
              <a:t>Direct links appear in the notes of the relevant slides.</a:t>
            </a:r>
          </a:p>
        </p:txBody>
      </p:sp>
    </p:spTree>
    <p:extLst>
      <p:ext uri="{BB962C8B-B14F-4D97-AF65-F5344CB8AC3E}">
        <p14:creationId xmlns:p14="http://schemas.microsoft.com/office/powerpoint/2010/main" val="21124565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2026-10-09T13:10:21.9800000Z</dcterms:created>
  <dcterms:modified xsi:type="dcterms:W3CDTF">2026-10-09T13:10:21.9810000Z</dcterms:modified>
</coreProperties>
</file>